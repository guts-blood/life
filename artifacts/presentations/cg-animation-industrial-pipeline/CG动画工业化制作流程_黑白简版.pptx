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c74c14fec4078" /><Relationship Type="http://schemas.openxmlformats.org/officeDocument/2006/relationships/extended-properties" Target="/docProps/app.xml" Id="R97dab68ec0de4f8a" /><Relationship Type="http://schemas.openxmlformats.org/officeDocument/2006/relationships/officeDocument" Target="/ppt/presentation.xml" Id="Rc993b6957399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7ce047d3145ed"/>
  </p:sldMasterIdLst>
  <p:notesMasterIdLst>
    <p:notesMasterId xmlns:r="http://schemas.openxmlformats.org/officeDocument/2006/relationships" r:id="R2849509ca32d4465"/>
  </p:notesMasterIdLst>
  <p:sldIdLst>
    <p:sldId xmlns:r="http://schemas.openxmlformats.org/officeDocument/2006/relationships" id="256" r:id="R295003a40914416f"/>
    <p:sldId xmlns:r="http://schemas.openxmlformats.org/officeDocument/2006/relationships" id="257" r:id="Ra8d34ab90ff843a3"/>
    <p:sldId xmlns:r="http://schemas.openxmlformats.org/officeDocument/2006/relationships" id="258" r:id="Reb53ec4a41cd4008"/>
    <p:sldId xmlns:r="http://schemas.openxmlformats.org/officeDocument/2006/relationships" id="259" r:id="Rbc0a00286d0b46f4"/>
    <p:sldId xmlns:r="http://schemas.openxmlformats.org/officeDocument/2006/relationships" id="260" r:id="Ra814e04a4e104fdf"/>
    <p:sldId xmlns:r="http://schemas.openxmlformats.org/officeDocument/2006/relationships" id="261" r:id="Rbcf8d329e0554f90"/>
    <p:sldId xmlns:r="http://schemas.openxmlformats.org/officeDocument/2006/relationships" id="262" r:id="R6053891af19749a1"/>
    <p:sldId xmlns:r="http://schemas.openxmlformats.org/officeDocument/2006/relationships" id="263" r:id="R6a13f21afd9b4725"/>
    <p:sldId xmlns:r="http://schemas.openxmlformats.org/officeDocument/2006/relationships" id="264" r:id="R46c491c70b0447bf"/>
    <p:sldId xmlns:r="http://schemas.openxmlformats.org/officeDocument/2006/relationships" id="265" r:id="Rc95902a7045e4d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1749524e14199" /><Relationship Type="http://schemas.openxmlformats.org/officeDocument/2006/relationships/slideMaster" Target="/ppt/slideMasters/slideMaster1.xml" Id="R0037ce047d3145ed" /><Relationship Type="http://schemas.openxmlformats.org/officeDocument/2006/relationships/notesMaster" Target="/ppt/notesMasters/notesMaster1.xml" Id="R2849509ca32d4465" /><Relationship Type="http://schemas.openxmlformats.org/officeDocument/2006/relationships/presProps" Target="/ppt/presProps.xml" Id="R42c287a7c17d4009" /><Relationship Type="http://schemas.openxmlformats.org/officeDocument/2006/relationships/tableStyles" Target="/ppt/tableStyles.xml" Id="R7a56e007ce314f15" /><Relationship Type="http://schemas.openxmlformats.org/officeDocument/2006/relationships/slide" Target="/ppt/slides/slide1.xml" Id="R295003a40914416f" /><Relationship Type="http://schemas.openxmlformats.org/officeDocument/2006/relationships/slide" Target="/ppt/slides/slide2.xml" Id="Ra8d34ab90ff843a3" /><Relationship Type="http://schemas.openxmlformats.org/officeDocument/2006/relationships/slide" Target="/ppt/slides/slide3.xml" Id="Reb53ec4a41cd4008" /><Relationship Type="http://schemas.openxmlformats.org/officeDocument/2006/relationships/slide" Target="/ppt/slides/slide4.xml" Id="Rbc0a00286d0b46f4" /><Relationship Type="http://schemas.openxmlformats.org/officeDocument/2006/relationships/slide" Target="/ppt/slides/slide5.xml" Id="Ra814e04a4e104fdf" /><Relationship Type="http://schemas.openxmlformats.org/officeDocument/2006/relationships/slide" Target="/ppt/slides/slide6.xml" Id="Rbcf8d329e0554f90" /><Relationship Type="http://schemas.openxmlformats.org/officeDocument/2006/relationships/slide" Target="/ppt/slides/slide7.xml" Id="R6053891af19749a1" /><Relationship Type="http://schemas.openxmlformats.org/officeDocument/2006/relationships/slide" Target="/ppt/slides/slide8.xml" Id="R6a13f21afd9b4725" /><Relationship Type="http://schemas.openxmlformats.org/officeDocument/2006/relationships/slide" Target="/ppt/slides/slide9.xml" Id="R46c491c70b0447bf" /><Relationship Type="http://schemas.openxmlformats.org/officeDocument/2006/relationships/slide" Target="/ppt/slides/slide10.xml" Id="Rc95902a7045e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c75b6758c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f6659428149cb" /><Relationship Type="http://schemas.openxmlformats.org/officeDocument/2006/relationships/notesMaster" Target="/ppt/notesMasters/notesMaster1.xml" Id="Rf809c9e25d3945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3c5e664cc45a4" /><Relationship Type="http://schemas.openxmlformats.org/officeDocument/2006/relationships/notesMaster" Target="/ppt/notesMasters/notesMaster1.xml" Id="R657140b1eeb6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f34417c9014161" /><Relationship Type="http://schemas.openxmlformats.org/officeDocument/2006/relationships/notesMaster" Target="/ppt/notesMasters/notesMaster1.xml" Id="Re29e0054fe7d44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b12c623394c51" /><Relationship Type="http://schemas.openxmlformats.org/officeDocument/2006/relationships/notesMaster" Target="/ppt/notesMasters/notesMaster1.xml" Id="Rcbaed6f6226f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65d81f4484684" /><Relationship Type="http://schemas.openxmlformats.org/officeDocument/2006/relationships/notesMaster" Target="/ppt/notesMasters/notesMaster1.xml" Id="Rc7cb75bb1046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d579bb086148ed" /><Relationship Type="http://schemas.openxmlformats.org/officeDocument/2006/relationships/notesMaster" Target="/ppt/notesMasters/notesMaster1.xml" Id="R674d075b423a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58b0cd0b442b5" /><Relationship Type="http://schemas.openxmlformats.org/officeDocument/2006/relationships/notesMaster" Target="/ppt/notesMasters/notesMaster1.xml" Id="Re1dff80d4d6d4b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8af0eaa5a34685" /><Relationship Type="http://schemas.openxmlformats.org/officeDocument/2006/relationships/notesMaster" Target="/ppt/notesMasters/notesMaster1.xml" Id="R01231ce67ee944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0731c1cce84161" /><Relationship Type="http://schemas.openxmlformats.org/officeDocument/2006/relationships/notesMaster" Target="/ppt/notesMasters/notesMaster1.xml" Id="R9ab0c2210f9e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a6575fa6f4f70" /><Relationship Type="http://schemas.openxmlformats.org/officeDocument/2006/relationships/notesMaster" Target="/ppt/notesMasters/notesMaster1.xml" Id="R76ea4242ed3243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6827e6e1f41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3537c3a3c405d" /><Relationship Type="http://schemas.openxmlformats.org/officeDocument/2006/relationships/slideLayout" Target="/ppt/slideLayouts/slideLayout1.xml" Id="Rf11b81219e3d4a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1b81219e3d4a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38745e1bc464a" /><Relationship Type="http://schemas.openxmlformats.org/officeDocument/2006/relationships/notesSlide" Target="/ppt/notesSlides/notesSlide1.xml" Id="R8050c12aca3e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cb0167c24881" /><Relationship Type="http://schemas.openxmlformats.org/officeDocument/2006/relationships/notesSlide" Target="/ppt/notesSlides/notesSlide2.xml" Id="R995f7fd54d2c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5ef98935642c8" /><Relationship Type="http://schemas.openxmlformats.org/officeDocument/2006/relationships/notesSlide" Target="/ppt/notesSlides/notesSlide3.xml" Id="R61f864cfcf9e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984283f5542ad" /><Relationship Type="http://schemas.openxmlformats.org/officeDocument/2006/relationships/notesSlide" Target="/ppt/notesSlides/notesSlide4.xml" Id="Ra634131e211346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53bbd65d4efb" /><Relationship Type="http://schemas.openxmlformats.org/officeDocument/2006/relationships/notesSlide" Target="/ppt/notesSlides/notesSlide5.xml" Id="R93e7e7d2aa29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96a6f8b34fc0" /><Relationship Type="http://schemas.openxmlformats.org/officeDocument/2006/relationships/notesSlide" Target="/ppt/notesSlides/notesSlide6.xml" Id="Rdfda1716f5124a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25640da9f4e01" /><Relationship Type="http://schemas.openxmlformats.org/officeDocument/2006/relationships/notesSlide" Target="/ppt/notesSlides/notesSlide7.xml" Id="R248c1f2cbfe745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3550b522e45e3" /><Relationship Type="http://schemas.openxmlformats.org/officeDocument/2006/relationships/notesSlide" Target="/ppt/notesSlides/notesSlide8.xml" Id="Ra45cb69f2b5c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195fff11c4f2c" /><Relationship Type="http://schemas.openxmlformats.org/officeDocument/2006/relationships/notesSlide" Target="/ppt/notesSlides/notesSlide9.xml" Id="R0f674d7a872548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2d2d920e24b97" /><Relationship Type="http://schemas.openxmlformats.org/officeDocument/2006/relationships/notesSlide" Target="/ppt/notesSlides/notesSlide10.xml" Id="R27fbf348bb03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7416D5B-3982-466F-8095-4EB2BB3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main-1">
            <a:extLst xmlns:a="http://schemas.openxmlformats.org/drawingml/2006/main">
              <a:ext uri="{FF2B5EF4-FFF2-40B4-BE49-F238E27FC236}">
                <a16:creationId xmlns:a16="http://schemas.microsoft.com/office/drawing/2014/main" id="{E59C53B6-8BD2-4F62-AEE3-B0E85F1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CG 动画电影</a:t>
            </a:r>
          </a:p>
        </p:txBody>
      </p:sp>
      <p:sp>
        <p:nvSpPr>
          <p:cNvPr id="3" name="title-main-2">
            <a:extLst xmlns:a="http://schemas.openxmlformats.org/drawingml/2006/main">
              <a:ext uri="{FF2B5EF4-FFF2-40B4-BE49-F238E27FC236}">
                <a16:creationId xmlns:a16="http://schemas.microsoft.com/office/drawing/2014/main" id="{19BF484C-FE08-4019-9256-45959321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是怎么做出来的？</a:t>
            </a:r>
          </a:p>
        </p:txBody>
      </p:sp>
      <p:sp>
        <p:nvSpPr>
          <p:cNvPr id="4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18C378D9-F5C3-4815-9092-1C5CC78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1D1D1"/>
                </a:solidFill>
              </a:defRPr>
            </a:pPr>
            <a:r>
              <a:rPr sz="2250" b="0">
                <a:solidFill>
                  <a:srgbClr val="D1D1D1"/>
                </a:solidFill>
              </a:rPr>
              <a:t>动画公司的工业化流程与部门协作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ACFE152-7CAD-40B4-A96D-A929FB71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audience">
            <a:extLst xmlns:a="http://schemas.openxmlformats.org/drawingml/2006/main">
              <a:ext uri="{FF2B5EF4-FFF2-40B4-BE49-F238E27FC236}">
                <a16:creationId xmlns:a16="http://schemas.microsoft.com/office/drawing/2014/main" id="{F1253DFB-D624-432E-A2BA-DD14A1C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面向大四 CG 方向学生</a:t>
            </a:r>
          </a:p>
        </p:txBody>
      </p:sp>
      <p:sp>
        <p:nvSpPr>
          <p:cNvPr id="7" name="title-source">
            <a:extLst xmlns:a="http://schemas.openxmlformats.org/drawingml/2006/main">
              <a:ext uri="{FF2B5EF4-FFF2-40B4-BE49-F238E27FC236}">
                <a16:creationId xmlns:a16="http://schemas.microsoft.com/office/drawing/2014/main" id="{982DEED1-7481-47E1-965B-265B244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AFAF"/>
                </a:solidFill>
              </a:defRPr>
            </a:pPr>
            <a:r>
              <a:rPr sz="1500" b="0">
                <a:solidFill>
                  <a:srgbClr val="AFAFAF"/>
                </a:solidFill>
              </a:rPr>
              <a:t>以梦工厂动画流程为主要案例</a:t>
            </a:r>
          </a:p>
        </p:txBody>
      </p:sp>
      <p:sp>
        <p:nvSpPr>
          <p:cNvPr id="8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52268013-79A4-477B-A013-A9AE1CD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300" b="1">
                <a:solidFill>
                  <a:srgbClr val="3A3A3A"/>
                </a:solidFill>
              </a:defRPr>
            </a:pPr>
            <a:r>
              <a:rPr sz="6300" b="1">
                <a:solidFill>
                  <a:srgbClr val="3A3A3A"/>
                </a:solidFill>
              </a:rPr>
              <a:t>01</a:t>
            </a:r>
          </a:p>
        </p:txBody>
      </p:sp>
      <p:sp>
        <p:nvSpPr>
          <p:cNvPr id="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663EC6F-BA79-475A-9C3B-7E19181C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91EE35DD-F579-40AE-845B-06B40DAA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CG 动画工业化制作流程</a:t>
            </a:r>
          </a:p>
        </p:txBody>
      </p:sp>
      <p:sp>
        <p:nvSpPr>
          <p:cNvPr id="1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C01F551A-87B0-4F0B-97B7-95A4AD43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FCFCF"/>
                </a:solidFill>
              </a:defRPr>
            </a:pPr>
            <a:r>
              <a:rPr sz="1200" b="1">
                <a:solidFill>
                  <a:srgbClr val="CFCF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6001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C0A155C0-AD99-4FAF-91E6-A283B43F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核心认识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125B5A0-A93B-4A07-BC88-F7FAB6A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工业化不是软件堆叠，而是三套系统同时运转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0FA7854C-A847-44CA-9E5A-11639244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ystem-index-1">
            <a:extLst xmlns:a="http://schemas.openxmlformats.org/drawingml/2006/main">
              <a:ext uri="{FF2B5EF4-FFF2-40B4-BE49-F238E27FC236}">
                <a16:creationId xmlns:a16="http://schemas.microsoft.com/office/drawing/2014/main" id="{84807623-BC8A-4E44-8860-8DF3D922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9A9A9A"/>
                </a:solidFill>
              </a:defRPr>
            </a:pPr>
            <a:r>
              <a:rPr sz="4200" b="1">
                <a:solidFill>
                  <a:srgbClr val="9A9A9A"/>
                </a:solidFill>
              </a:rPr>
              <a:t>01</a:t>
            </a:r>
          </a:p>
        </p:txBody>
      </p:sp>
      <p:sp>
        <p:nvSpPr>
          <p:cNvPr id="5" name="system-title-1">
            <a:extLst xmlns:a="http://schemas.openxmlformats.org/drawingml/2006/main">
              <a:ext uri="{FF2B5EF4-FFF2-40B4-BE49-F238E27FC236}">
                <a16:creationId xmlns:a16="http://schemas.microsoft.com/office/drawing/2014/main" id="{4B0FA069-82C7-4C10-9132-236D6B9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818"/>
                </a:solidFill>
              </a:defRPr>
            </a:pPr>
            <a:r>
              <a:rPr sz="2400" b="1">
                <a:solidFill>
                  <a:srgbClr val="181818"/>
                </a:solidFill>
              </a:rPr>
              <a:t>创意系统</a:t>
            </a:r>
          </a:p>
        </p:txBody>
      </p:sp>
      <p:sp>
        <p:nvSpPr>
          <p:cNvPr id="6" name="system-line-1">
            <a:extLst xmlns:a="http://schemas.openxmlformats.org/drawingml/2006/main">
              <a:ext uri="{FF2B5EF4-FFF2-40B4-BE49-F238E27FC236}">
                <a16:creationId xmlns:a16="http://schemas.microsoft.com/office/drawing/2014/main" id="{F786BDF5-CDD2-4B10-A5C3-B6F4CEF4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ystem-body-1">
            <a:extLst xmlns:a="http://schemas.openxmlformats.org/drawingml/2006/main">
              <a:ext uri="{FF2B5EF4-FFF2-40B4-BE49-F238E27FC236}">
                <a16:creationId xmlns:a16="http://schemas.microsoft.com/office/drawing/2014/main" id="{2319FE6D-0151-4BE1-9E9B-F61C224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决定故事、角色表演、视觉风格、镜头语言与最终审美。</a:t>
            </a:r>
          </a:p>
        </p:txBody>
      </p:sp>
      <p:sp>
        <p:nvSpPr>
          <p:cNvPr id="8" name="system-emphasis-1">
            <a:extLst xmlns:a="http://schemas.openxmlformats.org/drawingml/2006/main">
              <a:ext uri="{FF2B5EF4-FFF2-40B4-BE49-F238E27FC236}">
                <a16:creationId xmlns:a16="http://schemas.microsoft.com/office/drawing/2014/main" id="{7FEE2CB5-DDE9-40F6-847C-1C2A45D2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回答：做什么、为什么这样做</a:t>
            </a:r>
          </a:p>
        </p:txBody>
      </p:sp>
      <p:sp>
        <p:nvSpPr>
          <p:cNvPr id="9" name="system-divider-1">
            <a:extLst xmlns:a="http://schemas.openxmlformats.org/drawingml/2006/main">
              <a:ext uri="{FF2B5EF4-FFF2-40B4-BE49-F238E27FC236}">
                <a16:creationId xmlns:a16="http://schemas.microsoft.com/office/drawing/2014/main" id="{BACD86B4-ADA8-4819-B75F-5390D717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ystem-index-2">
            <a:extLst xmlns:a="http://schemas.openxmlformats.org/drawingml/2006/main">
              <a:ext uri="{FF2B5EF4-FFF2-40B4-BE49-F238E27FC236}">
                <a16:creationId xmlns:a16="http://schemas.microsoft.com/office/drawing/2014/main" id="{70B4F64A-8D1B-4854-8429-EB00770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9A9A9A"/>
                </a:solidFill>
              </a:defRPr>
            </a:pPr>
            <a:r>
              <a:rPr sz="4200" b="1">
                <a:solidFill>
                  <a:srgbClr val="9A9A9A"/>
                </a:solidFill>
              </a:rPr>
              <a:t>02</a:t>
            </a:r>
          </a:p>
        </p:txBody>
      </p:sp>
      <p:sp>
        <p:nvSpPr>
          <p:cNvPr id="11" name="system-title-2">
            <a:extLst xmlns:a="http://schemas.openxmlformats.org/drawingml/2006/main">
              <a:ext uri="{FF2B5EF4-FFF2-40B4-BE49-F238E27FC236}">
                <a16:creationId xmlns:a16="http://schemas.microsoft.com/office/drawing/2014/main" id="{A93BEB00-46A7-4837-922C-72C4552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818"/>
                </a:solidFill>
              </a:defRPr>
            </a:pPr>
            <a:r>
              <a:rPr sz="2400" b="1">
                <a:solidFill>
                  <a:srgbClr val="181818"/>
                </a:solidFill>
              </a:rPr>
              <a:t>制片系统</a:t>
            </a:r>
          </a:p>
        </p:txBody>
      </p:sp>
      <p:sp>
        <p:nvSpPr>
          <p:cNvPr id="12" name="system-line-2">
            <a:extLst xmlns:a="http://schemas.openxmlformats.org/drawingml/2006/main">
              <a:ext uri="{FF2B5EF4-FFF2-40B4-BE49-F238E27FC236}">
                <a16:creationId xmlns:a16="http://schemas.microsoft.com/office/drawing/2014/main" id="{60DB6F1F-9D69-4EBB-B776-8354F44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ystem-body-2">
            <a:extLst xmlns:a="http://schemas.openxmlformats.org/drawingml/2006/main">
              <a:ext uri="{FF2B5EF4-FFF2-40B4-BE49-F238E27FC236}">
                <a16:creationId xmlns:a16="http://schemas.microsoft.com/office/drawing/2014/main" id="{B596E28E-448D-4B2E-A997-4736519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管理人员、任务、时间、预算与跨部门沟通。</a:t>
            </a:r>
          </a:p>
        </p:txBody>
      </p:sp>
      <p:sp>
        <p:nvSpPr>
          <p:cNvPr id="14" name="system-emphasis-2">
            <a:extLst xmlns:a="http://schemas.openxmlformats.org/drawingml/2006/main">
              <a:ext uri="{FF2B5EF4-FFF2-40B4-BE49-F238E27FC236}">
                <a16:creationId xmlns:a16="http://schemas.microsoft.com/office/drawing/2014/main" id="{2C42262A-8B55-43E2-B82B-383C7A5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回答：谁来做、何时交付</a:t>
            </a:r>
          </a:p>
        </p:txBody>
      </p:sp>
      <p:sp>
        <p:nvSpPr>
          <p:cNvPr id="15" name="system-divider-2">
            <a:extLst xmlns:a="http://schemas.openxmlformats.org/drawingml/2006/main">
              <a:ext uri="{FF2B5EF4-FFF2-40B4-BE49-F238E27FC236}">
                <a16:creationId xmlns:a16="http://schemas.microsoft.com/office/drawing/2014/main" id="{402CE77D-0810-40D7-8CCF-DCCDB28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ystem-index-3">
            <a:extLst xmlns:a="http://schemas.openxmlformats.org/drawingml/2006/main">
              <a:ext uri="{FF2B5EF4-FFF2-40B4-BE49-F238E27FC236}">
                <a16:creationId xmlns:a16="http://schemas.microsoft.com/office/drawing/2014/main" id="{16E6C7CC-D399-44BF-8E81-D91E165A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66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9A9A9A"/>
                </a:solidFill>
              </a:defRPr>
            </a:pPr>
            <a:r>
              <a:rPr sz="4200" b="1">
                <a:solidFill>
                  <a:srgbClr val="9A9A9A"/>
                </a:solidFill>
              </a:rPr>
              <a:t>03</a:t>
            </a:r>
          </a:p>
        </p:txBody>
      </p:sp>
      <p:sp>
        <p:nvSpPr>
          <p:cNvPr id="17" name="system-title-3">
            <a:extLst xmlns:a="http://schemas.openxmlformats.org/drawingml/2006/main">
              <a:ext uri="{FF2B5EF4-FFF2-40B4-BE49-F238E27FC236}">
                <a16:creationId xmlns:a16="http://schemas.microsoft.com/office/drawing/2014/main" id="{99963725-EFBC-4CEE-96AC-65D0748F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818"/>
                </a:solidFill>
              </a:defRPr>
            </a:pPr>
            <a:r>
              <a:rPr sz="2400" b="1">
                <a:solidFill>
                  <a:srgbClr val="181818"/>
                </a:solidFill>
              </a:rPr>
              <a:t>技术系统</a:t>
            </a:r>
          </a:p>
        </p:txBody>
      </p:sp>
      <p:sp>
        <p:nvSpPr>
          <p:cNvPr id="18" name="system-line-3">
            <a:extLst xmlns:a="http://schemas.openxmlformats.org/drawingml/2006/main">
              <a:ext uri="{FF2B5EF4-FFF2-40B4-BE49-F238E27FC236}">
                <a16:creationId xmlns:a16="http://schemas.microsoft.com/office/drawing/2014/main" id="{8EC5A2FD-7D38-4C5F-9EB8-1B51B3F4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ystem-body-3">
            <a:extLst xmlns:a="http://schemas.openxmlformats.org/drawingml/2006/main">
              <a:ext uri="{FF2B5EF4-FFF2-40B4-BE49-F238E27FC236}">
                <a16:creationId xmlns:a16="http://schemas.microsoft.com/office/drawing/2014/main" id="{E709E026-76A7-46F4-9260-A57092A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维护管线、工具、数据、服务器与渲染计算资源。</a:t>
            </a:r>
          </a:p>
        </p:txBody>
      </p:sp>
      <p:sp>
        <p:nvSpPr>
          <p:cNvPr id="20" name="system-emphasis-3">
            <a:extLst xmlns:a="http://schemas.openxmlformats.org/drawingml/2006/main">
              <a:ext uri="{FF2B5EF4-FFF2-40B4-BE49-F238E27FC236}">
                <a16:creationId xmlns:a16="http://schemas.microsoft.com/office/drawing/2014/main" id="{1396A0F9-B0FA-42BD-85FE-11D0245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回答：怎样稳定、规模化完成</a:t>
            </a:r>
          </a:p>
        </p:txBody>
      </p:sp>
      <p:sp>
        <p:nvSpPr>
          <p:cNvPr id="21" name="system-takeaway">
            <a:extLst xmlns:a="http://schemas.openxmlformats.org/drawingml/2006/main">
              <a:ext uri="{FF2B5EF4-FFF2-40B4-BE49-F238E27FC236}">
                <a16:creationId xmlns:a16="http://schemas.microsoft.com/office/drawing/2014/main" id="{B9B25B3B-40B0-4EA1-9F63-5F258C3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ystem-takeaway-text">
            <a:extLst xmlns:a="http://schemas.openxmlformats.org/drawingml/2006/main">
              <a:ext uri="{FF2B5EF4-FFF2-40B4-BE49-F238E27FC236}">
                <a16:creationId xmlns:a16="http://schemas.microsoft.com/office/drawing/2014/main" id="{CF988D35-97D1-4D76-ADB8-FEB315DB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工业化 = 可分工 + 可追踪 + 可审核 + 可迭代</a:t>
            </a:r>
          </a:p>
        </p:txBody>
      </p:sp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B470F8-F62D-4A49-91A4-9766083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C6C81997-EADE-4C61-AC2F-6A7E311E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CC6F96D-3CF1-4586-9A3F-295A43F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3434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3">
            <a:extLst xmlns:a="http://schemas.openxmlformats.org/drawingml/2006/main">
              <a:ext uri="{FF2B5EF4-FFF2-40B4-BE49-F238E27FC236}">
                <a16:creationId xmlns:a16="http://schemas.microsoft.com/office/drawing/2014/main" id="{8A57678A-CD65-426A-8A03-33CB462A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BDBD"/>
                </a:solidFill>
              </a:defRPr>
            </a:pPr>
            <a:r>
              <a:rPr sz="1200" b="1">
                <a:solidFill>
                  <a:srgbClr val="BDBDBD"/>
                </a:solidFill>
              </a:rPr>
              <a:t>流程总览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6D152B0-4125-403B-A28B-7733F89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从一个想法到最终画面，要经过四次“翻译”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5B49A11-0919-47B5-AD3D-59EDB98A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verview-label-0">
            <a:extLst xmlns:a="http://schemas.openxmlformats.org/drawingml/2006/main">
              <a:ext uri="{FF2B5EF4-FFF2-40B4-BE49-F238E27FC236}">
                <a16:creationId xmlns:a16="http://schemas.microsoft.com/office/drawing/2014/main" id="{5A2A2309-3606-4B4C-9EFC-F358DDA7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AFAF"/>
                </a:solidFill>
              </a:defRPr>
            </a:pPr>
            <a:r>
              <a:rPr sz="1350" b="1">
                <a:solidFill>
                  <a:srgbClr val="AFAFAF"/>
                </a:solidFill>
              </a:rPr>
              <a:t>01 / 前期</a:t>
            </a:r>
          </a:p>
        </p:txBody>
      </p:sp>
      <p:sp>
        <p:nvSpPr>
          <p:cNvPr id="5" name="overview-head-0">
            <a:extLst xmlns:a="http://schemas.openxmlformats.org/drawingml/2006/main">
              <a:ext uri="{FF2B5EF4-FFF2-40B4-BE49-F238E27FC236}">
                <a16:creationId xmlns:a16="http://schemas.microsoft.com/office/drawing/2014/main" id="{0142057B-62D2-4BF7-9B14-542F2190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把故事说清楚</a:t>
            </a:r>
          </a:p>
        </p:txBody>
      </p:sp>
      <p:sp>
        <p:nvSpPr>
          <p:cNvPr id="6" name="overview-rule-0">
            <a:extLst xmlns:a="http://schemas.openxmlformats.org/drawingml/2006/main">
              <a:ext uri="{FF2B5EF4-FFF2-40B4-BE49-F238E27FC236}">
                <a16:creationId xmlns:a16="http://schemas.microsoft.com/office/drawing/2014/main" id="{BB57044F-AC89-460D-B354-C9D1E0E7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verview-body-0">
            <a:extLst xmlns:a="http://schemas.openxmlformats.org/drawingml/2006/main">
              <a:ext uri="{FF2B5EF4-FFF2-40B4-BE49-F238E27FC236}">
                <a16:creationId xmlns:a16="http://schemas.microsoft.com/office/drawing/2014/main" id="{E6A80016-FB09-417F-9B80-26100F25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故事开发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故事板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视觉开发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剪辑</a:t>
            </a:r>
          </a:p>
        </p:txBody>
      </p:sp>
      <p:sp>
        <p:nvSpPr>
          <p:cNvPr id="8" name="overview-divider-1">
            <a:extLst xmlns:a="http://schemas.openxmlformats.org/drawingml/2006/main">
              <a:ext uri="{FF2B5EF4-FFF2-40B4-BE49-F238E27FC236}">
                <a16:creationId xmlns:a16="http://schemas.microsoft.com/office/drawing/2014/main" id="{D17CE1F3-DA40-4179-AEBC-0B7DF72A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4785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verview-label-1">
            <a:extLst xmlns:a="http://schemas.openxmlformats.org/drawingml/2006/main">
              <a:ext uri="{FF2B5EF4-FFF2-40B4-BE49-F238E27FC236}">
                <a16:creationId xmlns:a16="http://schemas.microsoft.com/office/drawing/2014/main" id="{13F9ED09-0C2F-46CB-A0B1-4640EFCE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AFAF"/>
                </a:solidFill>
              </a:defRPr>
            </a:pPr>
            <a:r>
              <a:rPr sz="1350" b="1">
                <a:solidFill>
                  <a:srgbClr val="AFAFAF"/>
                </a:solidFill>
              </a:rPr>
              <a:t>02 / CG 前端</a:t>
            </a:r>
          </a:p>
        </p:txBody>
      </p:sp>
      <p:sp>
        <p:nvSpPr>
          <p:cNvPr id="10" name="overview-head-1">
            <a:extLst xmlns:a="http://schemas.openxmlformats.org/drawingml/2006/main">
              <a:ext uri="{FF2B5EF4-FFF2-40B4-BE49-F238E27FC236}">
                <a16:creationId xmlns:a16="http://schemas.microsoft.com/office/drawing/2014/main" id="{360826A0-C330-45B1-8CD7-43FEFB8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95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把设计做成资产</a:t>
            </a:r>
          </a:p>
        </p:txBody>
      </p:sp>
      <p:sp>
        <p:nvSpPr>
          <p:cNvPr id="11" name="overview-rule-1">
            <a:extLst xmlns:a="http://schemas.openxmlformats.org/drawingml/2006/main">
              <a:ext uri="{FF2B5EF4-FFF2-40B4-BE49-F238E27FC236}">
                <a16:creationId xmlns:a16="http://schemas.microsoft.com/office/drawing/2014/main" id="{231EFC72-DE8A-46AD-8D91-95C676F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verview-body-1">
            <a:extLst xmlns:a="http://schemas.openxmlformats.org/drawingml/2006/main">
              <a:ext uri="{FF2B5EF4-FFF2-40B4-BE49-F238E27FC236}">
                <a16:creationId xmlns:a16="http://schemas.microsoft.com/office/drawing/2014/main" id="{F6D953FD-0323-40D9-B42C-8A3CC1A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Rough Layout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Modeling / LookDev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Rigging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Final Layout</a:t>
            </a:r>
          </a:p>
        </p:txBody>
      </p:sp>
      <p:sp>
        <p:nvSpPr>
          <p:cNvPr id="13" name="overview-divider-2">
            <a:extLst xmlns:a="http://schemas.openxmlformats.org/drawingml/2006/main">
              <a:ext uri="{FF2B5EF4-FFF2-40B4-BE49-F238E27FC236}">
                <a16:creationId xmlns:a16="http://schemas.microsoft.com/office/drawing/2014/main" id="{5C1B4028-5D25-4303-B034-C90A2372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verview-label-2">
            <a:extLst xmlns:a="http://schemas.openxmlformats.org/drawingml/2006/main">
              <a:ext uri="{FF2B5EF4-FFF2-40B4-BE49-F238E27FC236}">
                <a16:creationId xmlns:a16="http://schemas.microsoft.com/office/drawing/2014/main" id="{91748D57-1AB3-40D7-BDF5-5FE3C469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AFAF"/>
                </a:solidFill>
              </a:defRPr>
            </a:pPr>
            <a:r>
              <a:rPr sz="1350" b="1">
                <a:solidFill>
                  <a:srgbClr val="AFAFAF"/>
                </a:solidFill>
              </a:rPr>
              <a:t>03 / CG 后端</a:t>
            </a:r>
          </a:p>
        </p:txBody>
      </p:sp>
      <p:sp>
        <p:nvSpPr>
          <p:cNvPr id="15" name="overview-head-2">
            <a:extLst xmlns:a="http://schemas.openxmlformats.org/drawingml/2006/main">
              <a:ext uri="{FF2B5EF4-FFF2-40B4-BE49-F238E27FC236}">
                <a16:creationId xmlns:a16="http://schemas.microsoft.com/office/drawing/2014/main" id="{89BC24DD-0E97-4411-A321-31D58CCB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把资产变成镜头</a:t>
            </a:r>
          </a:p>
        </p:txBody>
      </p:sp>
      <p:sp>
        <p:nvSpPr>
          <p:cNvPr id="16" name="overview-rule-2">
            <a:extLst xmlns:a="http://schemas.openxmlformats.org/drawingml/2006/main">
              <a:ext uri="{FF2B5EF4-FFF2-40B4-BE49-F238E27FC236}">
                <a16:creationId xmlns:a16="http://schemas.microsoft.com/office/drawing/2014/main" id="{496CC4A7-0F47-4890-8D0F-0595310B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verview-body-2">
            <a:extLst xmlns:a="http://schemas.openxmlformats.org/drawingml/2006/main">
              <a:ext uri="{FF2B5EF4-FFF2-40B4-BE49-F238E27FC236}">
                <a16:creationId xmlns:a16="http://schemas.microsoft.com/office/drawing/2014/main" id="{A7BFE9AA-ED3F-4A11-8745-7D9D659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Animation / Crowd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FX / CFX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Matte Painting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Lighting</a:t>
            </a:r>
          </a:p>
        </p:txBody>
      </p:sp>
      <p:sp>
        <p:nvSpPr>
          <p:cNvPr id="18" name="overview-divider-3">
            <a:extLst xmlns:a="http://schemas.openxmlformats.org/drawingml/2006/main">
              <a:ext uri="{FF2B5EF4-FFF2-40B4-BE49-F238E27FC236}">
                <a16:creationId xmlns:a16="http://schemas.microsoft.com/office/drawing/2014/main" id="{607E6BF8-0D29-4BE3-88C4-934DAD59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9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verview-label-3">
            <a:extLst xmlns:a="http://schemas.openxmlformats.org/drawingml/2006/main">
              <a:ext uri="{FF2B5EF4-FFF2-40B4-BE49-F238E27FC236}">
                <a16:creationId xmlns:a16="http://schemas.microsoft.com/office/drawing/2014/main" id="{8632FB1D-2824-45DA-855C-484F295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AFAF"/>
                </a:solidFill>
              </a:defRPr>
            </a:pPr>
            <a:r>
              <a:rPr sz="1350" b="1">
                <a:solidFill>
                  <a:srgbClr val="AFAFAF"/>
                </a:solidFill>
              </a:rPr>
              <a:t>04 / 最终处理</a:t>
            </a:r>
          </a:p>
        </p:txBody>
      </p:sp>
      <p:sp>
        <p:nvSpPr>
          <p:cNvPr id="20" name="overview-head-3">
            <a:extLst xmlns:a="http://schemas.openxmlformats.org/drawingml/2006/main">
              <a:ext uri="{FF2B5EF4-FFF2-40B4-BE49-F238E27FC236}">
                <a16:creationId xmlns:a16="http://schemas.microsoft.com/office/drawing/2014/main" id="{EE3055AA-3BA4-42C3-A99D-B15297C1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把镜头交付上映</a:t>
            </a:r>
          </a:p>
        </p:txBody>
      </p:sp>
      <p:sp>
        <p:nvSpPr>
          <p:cNvPr id="21" name="overview-rule-3">
            <a:extLst xmlns:a="http://schemas.openxmlformats.org/drawingml/2006/main">
              <a:ext uri="{FF2B5EF4-FFF2-40B4-BE49-F238E27FC236}">
                <a16:creationId xmlns:a16="http://schemas.microsoft.com/office/drawing/2014/main" id="{CD2FD4C0-30FD-4B2C-B2F0-10952627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verview-body-3">
            <a:extLst xmlns:a="http://schemas.openxmlformats.org/drawingml/2006/main">
              <a:ext uri="{FF2B5EF4-FFF2-40B4-BE49-F238E27FC236}">
                <a16:creationId xmlns:a16="http://schemas.microsoft.com/office/drawing/2014/main" id="{B3551B4E-891B-43DD-98E0-C21F2D77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Rendering / Comp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Image Finalizing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质检与修补</a:t>
            </a:r>
          </a:p>
          <a:p xmlns:a="http://schemas.openxmlformats.org/drawingml/2006/main">
            <a:pPr algn="l">
              <a:defRPr sz="1650" b="0">
                <a:solidFill>
                  <a:srgbClr val="D2D2D2"/>
                </a:solidFill>
              </a:defRPr>
            </a:pPr>
            <a:r>
              <a:rPr sz="1650" b="0">
                <a:solidFill>
                  <a:srgbClr val="D2D2D2"/>
                </a:solidFill>
              </a:rPr>
              <a:t>最终输出</a:t>
            </a:r>
          </a:p>
        </p:txBody>
      </p:sp>
      <p:sp>
        <p:nvSpPr>
          <p:cNvPr id="23" name="overview-note">
            <a:extLst xmlns:a="http://schemas.openxmlformats.org/drawingml/2006/main">
              <a:ext uri="{FF2B5EF4-FFF2-40B4-BE49-F238E27FC236}">
                <a16:creationId xmlns:a16="http://schemas.microsoft.com/office/drawing/2014/main" id="{9113B930-46FA-45DB-BF0D-4C5DD13E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真实生产并非单向流水线：多个部门并行推进，并根据导演审核反复迭代。</a:t>
            </a:r>
          </a:p>
        </p:txBody>
      </p:sp>
      <p:sp>
        <p:nvSpPr>
          <p:cNvPr id="2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695EA14-76D8-45DF-A544-C057118B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642AADF9-320A-4357-A27E-DAEE806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CG 动画工业化制作流程</a:t>
            </a:r>
          </a:p>
        </p:txBody>
      </p:sp>
      <p:sp>
        <p:nvSpPr>
          <p:cNvPr id="2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6859D51-869D-4024-B06D-C94CDCC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FCFCF"/>
                </a:solidFill>
              </a:defRPr>
            </a:pPr>
            <a:r>
              <a:rPr sz="1200" b="1">
                <a:solidFill>
                  <a:srgbClr val="CFCFC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4661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4">
            <a:extLst xmlns:a="http://schemas.openxmlformats.org/drawingml/2006/main">
              <a:ext uri="{FF2B5EF4-FFF2-40B4-BE49-F238E27FC236}">
                <a16:creationId xmlns:a16="http://schemas.microsoft.com/office/drawing/2014/main" id="{0917ECD5-EE8B-4487-B0F8-948C56C4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故事与视觉开发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007405B-5C8F-475A-8786-44AB56E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前期先回答两个问题：讲什么，以及看起来什么样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A83D8C1B-B104-4717-A412-B58F168D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index-01">
            <a:extLst xmlns:a="http://schemas.openxmlformats.org/drawingml/2006/main">
              <a:ext uri="{FF2B5EF4-FFF2-40B4-BE49-F238E27FC236}">
                <a16:creationId xmlns:a16="http://schemas.microsoft.com/office/drawing/2014/main" id="{1304187C-0E1A-4A61-98B5-FB068D1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A9A9A"/>
                </a:solidFill>
              </a:defRPr>
            </a:pPr>
            <a:r>
              <a:rPr sz="3150" b="1">
                <a:solidFill>
                  <a:srgbClr val="9A9A9A"/>
                </a:solidFill>
              </a:rPr>
              <a:t>01</a:t>
            </a:r>
          </a:p>
        </p:txBody>
      </p:sp>
      <p:sp>
        <p:nvSpPr>
          <p:cNvPr id="5" name="pre-title-01">
            <a:extLst xmlns:a="http://schemas.openxmlformats.org/drawingml/2006/main">
              <a:ext uri="{FF2B5EF4-FFF2-40B4-BE49-F238E27FC236}">
                <a16:creationId xmlns:a16="http://schemas.microsoft.com/office/drawing/2014/main" id="{833F2000-330F-460F-9122-1FEDA75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Story</a:t>
            </a:r>
          </a:p>
        </p:txBody>
      </p:sp>
      <p:sp>
        <p:nvSpPr>
          <p:cNvPr id="6" name="pre-sub-01">
            <a:extLst xmlns:a="http://schemas.openxmlformats.org/drawingml/2006/main">
              <a:ext uri="{FF2B5EF4-FFF2-40B4-BE49-F238E27FC236}">
                <a16:creationId xmlns:a16="http://schemas.microsoft.com/office/drawing/2014/main" id="{6ADFAA03-1D92-4B28-AC3C-60DF19D4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故事部门</a:t>
            </a:r>
          </a:p>
        </p:txBody>
      </p:sp>
      <p:sp>
        <p:nvSpPr>
          <p:cNvPr id="7" name="pre-rule-01">
            <a:extLst xmlns:a="http://schemas.openxmlformats.org/drawingml/2006/main">
              <a:ext uri="{FF2B5EF4-FFF2-40B4-BE49-F238E27FC236}">
                <a16:creationId xmlns:a16="http://schemas.microsoft.com/office/drawing/2014/main" id="{26254AE2-069B-432F-B80E-1549F61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e-body-01">
            <a:extLst xmlns:a="http://schemas.openxmlformats.org/drawingml/2006/main">
              <a:ext uri="{FF2B5EF4-FFF2-40B4-BE49-F238E27FC236}">
                <a16:creationId xmlns:a16="http://schemas.microsoft.com/office/drawing/2014/main" id="{3862E288-0957-42D1-A7F8-CFDA3D3E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开发故事与剧本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把剧本转成故事板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建立镜头语言与节奏</a:t>
            </a:r>
          </a:p>
        </p:txBody>
      </p:sp>
      <p:sp>
        <p:nvSpPr>
          <p:cNvPr id="9" name="pre-index-02">
            <a:extLst xmlns:a="http://schemas.openxmlformats.org/drawingml/2006/main">
              <a:ext uri="{FF2B5EF4-FFF2-40B4-BE49-F238E27FC236}">
                <a16:creationId xmlns:a16="http://schemas.microsoft.com/office/drawing/2014/main" id="{93CC726F-20EB-4728-A574-797CF54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A9A9A"/>
                </a:solidFill>
              </a:defRPr>
            </a:pPr>
            <a:r>
              <a:rPr sz="3150" b="1">
                <a:solidFill>
                  <a:srgbClr val="9A9A9A"/>
                </a:solidFill>
              </a:rPr>
              <a:t>02</a:t>
            </a:r>
          </a:p>
        </p:txBody>
      </p:sp>
      <p:sp>
        <p:nvSpPr>
          <p:cNvPr id="10" name="pre-title-02">
            <a:extLst xmlns:a="http://schemas.openxmlformats.org/drawingml/2006/main">
              <a:ext uri="{FF2B5EF4-FFF2-40B4-BE49-F238E27FC236}">
                <a16:creationId xmlns:a16="http://schemas.microsoft.com/office/drawing/2014/main" id="{ADBAD737-9039-4034-9ED2-41784DA3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Visual Development</a:t>
            </a:r>
          </a:p>
        </p:txBody>
      </p:sp>
      <p:sp>
        <p:nvSpPr>
          <p:cNvPr id="11" name="pre-sub-02">
            <a:extLst xmlns:a="http://schemas.openxmlformats.org/drawingml/2006/main">
              <a:ext uri="{FF2B5EF4-FFF2-40B4-BE49-F238E27FC236}">
                <a16:creationId xmlns:a16="http://schemas.microsoft.com/office/drawing/2014/main" id="{D553D7EC-1683-413A-B310-5C93ECDD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视觉开发部门</a:t>
            </a:r>
          </a:p>
        </p:txBody>
      </p:sp>
      <p:sp>
        <p:nvSpPr>
          <p:cNvPr id="12" name="pre-rule-02">
            <a:extLst xmlns:a="http://schemas.openxmlformats.org/drawingml/2006/main">
              <a:ext uri="{FF2B5EF4-FFF2-40B4-BE49-F238E27FC236}">
                <a16:creationId xmlns:a16="http://schemas.microsoft.com/office/drawing/2014/main" id="{56E65370-3FC1-4E1D-9828-F3E782EC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e-body-02">
            <a:extLst xmlns:a="http://schemas.openxmlformats.org/drawingml/2006/main">
              <a:ext uri="{FF2B5EF4-FFF2-40B4-BE49-F238E27FC236}">
                <a16:creationId xmlns:a16="http://schemas.microsoft.com/office/drawing/2014/main" id="{257B1EDA-EB3A-49D5-8B55-0C833807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角色 / 道具 / 场景设计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Lighting Keys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Color Script</a:t>
            </a:r>
          </a:p>
        </p:txBody>
      </p:sp>
      <p:sp>
        <p:nvSpPr>
          <p:cNvPr id="14" name="pre-index-03">
            <a:extLst xmlns:a="http://schemas.openxmlformats.org/drawingml/2006/main">
              <a:ext uri="{FF2B5EF4-FFF2-40B4-BE49-F238E27FC236}">
                <a16:creationId xmlns:a16="http://schemas.microsoft.com/office/drawing/2014/main" id="{0EBD3E24-3CC0-49F0-B82B-CFEB2D20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A9A9A"/>
                </a:solidFill>
              </a:defRPr>
            </a:pPr>
            <a:r>
              <a:rPr sz="3150" b="1">
                <a:solidFill>
                  <a:srgbClr val="9A9A9A"/>
                </a:solidFill>
              </a:rPr>
              <a:t>03</a:t>
            </a:r>
          </a:p>
        </p:txBody>
      </p:sp>
      <p:sp>
        <p:nvSpPr>
          <p:cNvPr id="15" name="pre-title-03">
            <a:extLst xmlns:a="http://schemas.openxmlformats.org/drawingml/2006/main">
              <a:ext uri="{FF2B5EF4-FFF2-40B4-BE49-F238E27FC236}">
                <a16:creationId xmlns:a16="http://schemas.microsoft.com/office/drawing/2014/main" id="{5D7ABE73-03A2-4DE4-BF36-AF314765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818"/>
                </a:solidFill>
              </a:defRPr>
            </a:pPr>
            <a:r>
              <a:rPr sz="2100" b="1">
                <a:solidFill>
                  <a:srgbClr val="181818"/>
                </a:solidFill>
              </a:rPr>
              <a:t>Editorial</a:t>
            </a:r>
          </a:p>
        </p:txBody>
      </p:sp>
      <p:sp>
        <p:nvSpPr>
          <p:cNvPr id="16" name="pre-sub-03">
            <a:extLst xmlns:a="http://schemas.openxmlformats.org/drawingml/2006/main">
              <a:ext uri="{FF2B5EF4-FFF2-40B4-BE49-F238E27FC236}">
                <a16:creationId xmlns:a16="http://schemas.microsoft.com/office/drawing/2014/main" id="{D5560177-7823-4F91-BD21-8862C8D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剪辑部门</a:t>
            </a:r>
          </a:p>
        </p:txBody>
      </p:sp>
      <p:sp>
        <p:nvSpPr>
          <p:cNvPr id="17" name="pre-rule-03">
            <a:extLst xmlns:a="http://schemas.openxmlformats.org/drawingml/2006/main">
              <a:ext uri="{FF2B5EF4-FFF2-40B4-BE49-F238E27FC236}">
                <a16:creationId xmlns:a16="http://schemas.microsoft.com/office/drawing/2014/main" id="{49C4B6A9-1418-4F4C-BAF1-CCDC7F6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e-body-03">
            <a:extLst xmlns:a="http://schemas.openxmlformats.org/drawingml/2006/main">
              <a:ext uri="{FF2B5EF4-FFF2-40B4-BE49-F238E27FC236}">
                <a16:creationId xmlns:a16="http://schemas.microsoft.com/office/drawing/2014/main" id="{E8AB282C-058C-4EFF-ACD9-A7B4C863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从故事板阶段介入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持续更新整部影片</a:t>
            </a:r>
          </a:p>
          <a:p xmlns:a="http://schemas.openxmlformats.org/drawingml/2006/main">
            <a:pPr algn="l">
              <a:defRPr sz="1650" b="0">
                <a:solidFill>
                  <a:srgbClr val="5E5E5E"/>
                </a:solidFill>
              </a:defRPr>
            </a:pPr>
            <a:r>
              <a:rPr sz="1650" b="0">
                <a:solidFill>
                  <a:srgbClr val="5E5E5E"/>
                </a:solidFill>
              </a:rPr>
              <a:t>为所有修改提供上下文</a:t>
            </a:r>
          </a:p>
        </p:txBody>
      </p:sp>
      <p:sp>
        <p:nvSpPr>
          <p:cNvPr id="19" name="pre-callout">
            <a:extLst xmlns:a="http://schemas.openxmlformats.org/drawingml/2006/main">
              <a:ext uri="{FF2B5EF4-FFF2-40B4-BE49-F238E27FC236}">
                <a16:creationId xmlns:a16="http://schemas.microsoft.com/office/drawing/2014/main" id="{E6B3B75D-57BC-4A23-B686-7512943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e-callout-copy">
            <a:extLst xmlns:a="http://schemas.openxmlformats.org/drawingml/2006/main">
              <a:ext uri="{FF2B5EF4-FFF2-40B4-BE49-F238E27FC236}">
                <a16:creationId xmlns:a16="http://schemas.microsoft.com/office/drawing/2014/main" id="{6A909424-4BF2-4A35-905A-9BE48BFC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Color Script 是视觉风格的“剧本”；Editorial 则保证任何阶段都能看到完整故事。</a:t>
            </a:r>
          </a:p>
        </p:txBody>
      </p:sp>
      <p:sp>
        <p:nvSpPr>
          <p:cNvPr id="2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32DABF5-A9A5-4657-951C-A7E8E2E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F30D8858-8067-4083-8818-A13F6C16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2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3884D5F-8261-43D3-8333-25FADABD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8786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5">
            <a:extLst xmlns:a="http://schemas.openxmlformats.org/drawingml/2006/main">
              <a:ext uri="{FF2B5EF4-FFF2-40B4-BE49-F238E27FC236}">
                <a16:creationId xmlns:a16="http://schemas.microsoft.com/office/drawing/2014/main" id="{61EA9CC8-4ED7-4B30-8FBA-E2D7E15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Front End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A66B055-DF52-47FB-A4F2-5AC320D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CG 前端同时搭建镜头框架和可复用资产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A5AE5DBE-D0B0-427C-8F71-0B117F1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ront-track-shot">
            <a:extLst xmlns:a="http://schemas.openxmlformats.org/drawingml/2006/main">
              <a:ext uri="{FF2B5EF4-FFF2-40B4-BE49-F238E27FC236}">
                <a16:creationId xmlns:a16="http://schemas.microsoft.com/office/drawing/2014/main" id="{7805454C-BD59-477F-A4A8-2C5B7A5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</a:defRPr>
            </a:pPr>
            <a:r>
              <a:rPr sz="1800" b="1">
                <a:solidFill>
                  <a:srgbClr val="181818"/>
                </a:solidFill>
              </a:rPr>
              <a:t>镜头线</a:t>
            </a:r>
          </a:p>
        </p:txBody>
      </p:sp>
      <p:sp>
        <p:nvSpPr>
          <p:cNvPr id="5" name="front-track-shot-desc">
            <a:extLst xmlns:a="http://schemas.openxmlformats.org/drawingml/2006/main">
              <a:ext uri="{FF2B5EF4-FFF2-40B4-BE49-F238E27FC236}">
                <a16:creationId xmlns:a16="http://schemas.microsoft.com/office/drawing/2014/main" id="{31E6486A-BD60-4AA9-BF86-73AEA2DA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05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先决定摄像机、构图和元素位置</a:t>
            </a:r>
          </a:p>
        </p:txBody>
      </p:sp>
      <p:sp>
        <p:nvSpPr>
          <p:cNvPr id="6" name="shot-1-box">
            <a:extLst xmlns:a="http://schemas.openxmlformats.org/drawingml/2006/main">
              <a:ext uri="{FF2B5EF4-FFF2-40B4-BE49-F238E27FC236}">
                <a16:creationId xmlns:a16="http://schemas.microsoft.com/office/drawing/2014/main" id="{35312F98-3542-443E-A6C6-0652E84E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ot-1-label">
            <a:extLst xmlns:a="http://schemas.openxmlformats.org/drawingml/2006/main">
              <a:ext uri="{FF2B5EF4-FFF2-40B4-BE49-F238E27FC236}">
                <a16:creationId xmlns:a16="http://schemas.microsoft.com/office/drawing/2014/main" id="{A65CD58B-0D1B-48B2-A6F2-C22BD80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STORYBOARD</a:t>
            </a:r>
          </a:p>
        </p:txBody>
      </p:sp>
      <p:sp>
        <p:nvSpPr>
          <p:cNvPr id="8" name="shot-1-body">
            <a:extLst xmlns:a="http://schemas.openxmlformats.org/drawingml/2006/main">
              <a:ext uri="{FF2B5EF4-FFF2-40B4-BE49-F238E27FC236}">
                <a16:creationId xmlns:a16="http://schemas.microsoft.com/office/drawing/2014/main" id="{A2B88F9F-5EFE-4319-B575-1847804D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二维镜头意图</a:t>
            </a:r>
          </a:p>
        </p:txBody>
      </p:sp>
      <p:sp>
        <p:nvSpPr>
          <p:cNvPr id="9" name="shot-arrow-1">
            <a:extLst xmlns:a="http://schemas.openxmlformats.org/drawingml/2006/main">
              <a:ext uri="{FF2B5EF4-FFF2-40B4-BE49-F238E27FC236}">
                <a16:creationId xmlns:a16="http://schemas.microsoft.com/office/drawing/2014/main" id="{EDD33846-C9D6-42FA-BF3D-04A50106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shot-2-box">
            <a:extLst xmlns:a="http://schemas.openxmlformats.org/drawingml/2006/main">
              <a:ext uri="{FF2B5EF4-FFF2-40B4-BE49-F238E27FC236}">
                <a16:creationId xmlns:a16="http://schemas.microsoft.com/office/drawing/2014/main" id="{8E586D0A-5A35-49E4-A55B-DF33461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t-2-label">
            <a:extLst xmlns:a="http://schemas.openxmlformats.org/drawingml/2006/main">
              <a:ext uri="{FF2B5EF4-FFF2-40B4-BE49-F238E27FC236}">
                <a16:creationId xmlns:a16="http://schemas.microsoft.com/office/drawing/2014/main" id="{EBD4CFE4-8396-476C-94AA-3E220998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ROUGH LAYOUT</a:t>
            </a:r>
          </a:p>
        </p:txBody>
      </p:sp>
      <p:sp>
        <p:nvSpPr>
          <p:cNvPr id="12" name="shot-2-body">
            <a:extLst xmlns:a="http://schemas.openxmlformats.org/drawingml/2006/main">
              <a:ext uri="{FF2B5EF4-FFF2-40B4-BE49-F238E27FC236}">
                <a16:creationId xmlns:a16="http://schemas.microsoft.com/office/drawing/2014/main" id="{CD270716-0DC6-4E25-BBE0-279FB95F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337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运镜 / 构图 / 初步站位</a:t>
            </a:r>
          </a:p>
        </p:txBody>
      </p:sp>
      <p:sp>
        <p:nvSpPr>
          <p:cNvPr id="13" name="shot-arrow-2">
            <a:extLst xmlns:a="http://schemas.openxmlformats.org/drawingml/2006/main">
              <a:ext uri="{FF2B5EF4-FFF2-40B4-BE49-F238E27FC236}">
                <a16:creationId xmlns:a16="http://schemas.microsoft.com/office/drawing/2014/main" id="{60C0DE56-1B6C-4C4E-BF45-CF77E3E8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shot-3-box">
            <a:extLst xmlns:a="http://schemas.openxmlformats.org/drawingml/2006/main">
              <a:ext uri="{FF2B5EF4-FFF2-40B4-BE49-F238E27FC236}">
                <a16:creationId xmlns:a16="http://schemas.microsoft.com/office/drawing/2014/main" id="{8AAE2F7E-674E-4D9A-BC91-73C14C1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003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ot-3-label">
            <a:extLst xmlns:a="http://schemas.openxmlformats.org/drawingml/2006/main">
              <a:ext uri="{FF2B5EF4-FFF2-40B4-BE49-F238E27FC236}">
                <a16:creationId xmlns:a16="http://schemas.microsoft.com/office/drawing/2014/main" id="{156EE76C-2291-403C-A929-9FEFD94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FINAL LAYOUT</a:t>
            </a:r>
          </a:p>
        </p:txBody>
      </p:sp>
      <p:sp>
        <p:nvSpPr>
          <p:cNvPr id="16" name="shot-3-body">
            <a:extLst xmlns:a="http://schemas.openxmlformats.org/drawingml/2006/main">
              <a:ext uri="{FF2B5EF4-FFF2-40B4-BE49-F238E27FC236}">
                <a16:creationId xmlns:a16="http://schemas.microsoft.com/office/drawing/2014/main" id="{F63F2EA6-620C-41F1-BBC1-08E7DAF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最终机位 / Set Dressing</a:t>
            </a:r>
          </a:p>
        </p:txBody>
      </p:sp>
      <p:sp>
        <p:nvSpPr>
          <p:cNvPr id="17" name="front-track-asset">
            <a:extLst xmlns:a="http://schemas.openxmlformats.org/drawingml/2006/main">
              <a:ext uri="{FF2B5EF4-FFF2-40B4-BE49-F238E27FC236}">
                <a16:creationId xmlns:a16="http://schemas.microsoft.com/office/drawing/2014/main" id="{A8A95F4A-B85B-4BF6-9EC5-929A50E8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818"/>
                </a:solidFill>
              </a:defRPr>
            </a:pPr>
            <a:r>
              <a:rPr sz="1800" b="1">
                <a:solidFill>
                  <a:srgbClr val="181818"/>
                </a:solidFill>
              </a:rPr>
              <a:t>资产线</a:t>
            </a:r>
          </a:p>
        </p:txBody>
      </p:sp>
      <p:sp>
        <p:nvSpPr>
          <p:cNvPr id="18" name="front-track-asset-desc">
            <a:extLst xmlns:a="http://schemas.openxmlformats.org/drawingml/2006/main">
              <a:ext uri="{FF2B5EF4-FFF2-40B4-BE49-F238E27FC236}">
                <a16:creationId xmlns:a16="http://schemas.microsoft.com/office/drawing/2014/main" id="{BEE3D1FA-EF5A-4B7E-B74B-E36094C1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57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把概念设计变成可重复使用的数字资产</a:t>
            </a:r>
          </a:p>
        </p:txBody>
      </p:sp>
      <p:sp>
        <p:nvSpPr>
          <p:cNvPr id="19" name="asset-1-box">
            <a:extLst xmlns:a="http://schemas.openxmlformats.org/drawingml/2006/main">
              <a:ext uri="{FF2B5EF4-FFF2-40B4-BE49-F238E27FC236}">
                <a16:creationId xmlns:a16="http://schemas.microsoft.com/office/drawing/2014/main" id="{5380F5DB-7CEC-4389-B908-93003667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sset-1-label">
            <a:extLst xmlns:a="http://schemas.openxmlformats.org/drawingml/2006/main">
              <a:ext uri="{FF2B5EF4-FFF2-40B4-BE49-F238E27FC236}">
                <a16:creationId xmlns:a16="http://schemas.microsoft.com/office/drawing/2014/main" id="{9B0A4525-1D41-49DF-BE02-DF86B749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MODELING</a:t>
            </a:r>
          </a:p>
        </p:txBody>
      </p:sp>
      <p:sp>
        <p:nvSpPr>
          <p:cNvPr id="21" name="asset-1-body">
            <a:extLst xmlns:a="http://schemas.openxmlformats.org/drawingml/2006/main">
              <a:ext uri="{FF2B5EF4-FFF2-40B4-BE49-F238E27FC236}">
                <a16:creationId xmlns:a16="http://schemas.microsoft.com/office/drawing/2014/main" id="{C57E44EB-009F-4508-A50C-6A1C105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角色 / 道具 / 环境</a:t>
            </a:r>
          </a:p>
        </p:txBody>
      </p:sp>
      <p:sp>
        <p:nvSpPr>
          <p:cNvPr id="22" name="asset-arrow-1">
            <a:extLst xmlns:a="http://schemas.openxmlformats.org/drawingml/2006/main">
              <a:ext uri="{FF2B5EF4-FFF2-40B4-BE49-F238E27FC236}">
                <a16:creationId xmlns:a16="http://schemas.microsoft.com/office/drawing/2014/main" id="{3629B2D1-531A-4068-976E-0FEEFE92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3" name="asset-2-box">
            <a:extLst xmlns:a="http://schemas.openxmlformats.org/drawingml/2006/main">
              <a:ext uri="{FF2B5EF4-FFF2-40B4-BE49-F238E27FC236}">
                <a16:creationId xmlns:a16="http://schemas.microsoft.com/office/drawing/2014/main" id="{A32C8C0E-DCAE-4F8A-A78E-C2A7371E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sset-2-label">
            <a:extLst xmlns:a="http://schemas.openxmlformats.org/drawingml/2006/main">
              <a:ext uri="{FF2B5EF4-FFF2-40B4-BE49-F238E27FC236}">
                <a16:creationId xmlns:a16="http://schemas.microsoft.com/office/drawing/2014/main" id="{FE4C381A-C798-4578-8569-090D86A3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LOOK DEVELOPMENT</a:t>
            </a:r>
          </a:p>
        </p:txBody>
      </p:sp>
      <p:sp>
        <p:nvSpPr>
          <p:cNvPr id="25" name="asset-2-body">
            <a:extLst xmlns:a="http://schemas.openxmlformats.org/drawingml/2006/main">
              <a:ext uri="{FF2B5EF4-FFF2-40B4-BE49-F238E27FC236}">
                <a16:creationId xmlns:a16="http://schemas.microsoft.com/office/drawing/2014/main" id="{63A58C9F-994D-41EF-AE3D-65758DD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67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材质 / 纹理 / 外观</a:t>
            </a:r>
          </a:p>
        </p:txBody>
      </p:sp>
      <p:sp>
        <p:nvSpPr>
          <p:cNvPr id="26" name="asset-arrow-2">
            <a:extLst xmlns:a="http://schemas.openxmlformats.org/drawingml/2006/main">
              <a:ext uri="{FF2B5EF4-FFF2-40B4-BE49-F238E27FC236}">
                <a16:creationId xmlns:a16="http://schemas.microsoft.com/office/drawing/2014/main" id="{384B7EB5-9CF2-46F0-9AF8-3D3355C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577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7" name="asset-3-box">
            <a:extLst xmlns:a="http://schemas.openxmlformats.org/drawingml/2006/main">
              <a:ext uri="{FF2B5EF4-FFF2-40B4-BE49-F238E27FC236}">
                <a16:creationId xmlns:a16="http://schemas.microsoft.com/office/drawing/2014/main" id="{429206FB-8F67-45C8-A834-93CC02B6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sset-3-label">
            <a:extLst xmlns:a="http://schemas.openxmlformats.org/drawingml/2006/main">
              <a:ext uri="{FF2B5EF4-FFF2-40B4-BE49-F238E27FC236}">
                <a16:creationId xmlns:a16="http://schemas.microsoft.com/office/drawing/2014/main" id="{339C034C-93FD-4200-A5A0-47BFD18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CFCF"/>
                </a:solidFill>
              </a:defRPr>
            </a:pPr>
            <a:r>
              <a:rPr sz="1350" b="1">
                <a:solidFill>
                  <a:srgbClr val="CFCFCF"/>
                </a:solidFill>
              </a:rPr>
              <a:t>RIGGING</a:t>
            </a:r>
          </a:p>
        </p:txBody>
      </p:sp>
      <p:sp>
        <p:nvSpPr>
          <p:cNvPr id="29" name="asset-3-body">
            <a:extLst xmlns:a="http://schemas.openxmlformats.org/drawingml/2006/main">
              <a:ext uri="{FF2B5EF4-FFF2-40B4-BE49-F238E27FC236}">
                <a16:creationId xmlns:a16="http://schemas.microsoft.com/office/drawing/2014/main" id="{DD38A83E-55A4-474A-B576-41C5235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骨骼 / 蒙皮 / 控制器</a:t>
            </a:r>
          </a:p>
        </p:txBody>
      </p:sp>
      <p:sp>
        <p:nvSpPr>
          <p:cNvPr id="30" name="asset-arrow-3">
            <a:extLst xmlns:a="http://schemas.openxmlformats.org/drawingml/2006/main">
              <a:ext uri="{FF2B5EF4-FFF2-40B4-BE49-F238E27FC236}">
                <a16:creationId xmlns:a16="http://schemas.microsoft.com/office/drawing/2014/main" id="{D13EA24F-C591-40EF-9754-C7236A12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31" name="front-result">
            <a:extLst xmlns:a="http://schemas.openxmlformats.org/drawingml/2006/main">
              <a:ext uri="{FF2B5EF4-FFF2-40B4-BE49-F238E27FC236}">
                <a16:creationId xmlns:a16="http://schemas.microsoft.com/office/drawing/2014/main" id="{796799D0-B378-4445-9FC9-BE08345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2" name="front-result-small">
            <a:extLst xmlns:a="http://schemas.openxmlformats.org/drawingml/2006/main">
              <a:ext uri="{FF2B5EF4-FFF2-40B4-BE49-F238E27FC236}">
                <a16:creationId xmlns:a16="http://schemas.microsoft.com/office/drawing/2014/main" id="{61BAE48D-7361-4D79-B94F-F082160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5E5E"/>
                </a:solidFill>
              </a:defRPr>
            </a:pPr>
            <a:r>
              <a:rPr sz="1350" b="1">
                <a:solidFill>
                  <a:srgbClr val="5E5E5E"/>
                </a:solidFill>
              </a:rPr>
              <a:t>两条线汇合</a:t>
            </a:r>
          </a:p>
        </p:txBody>
      </p:sp>
      <p:sp>
        <p:nvSpPr>
          <p:cNvPr id="33" name="front-result-big">
            <a:extLst xmlns:a="http://schemas.openxmlformats.org/drawingml/2006/main">
              <a:ext uri="{FF2B5EF4-FFF2-40B4-BE49-F238E27FC236}">
                <a16:creationId xmlns:a16="http://schemas.microsoft.com/office/drawing/2014/main" id="{5E5FB4E0-4B6E-4A5D-91C3-C4CB3CAC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1818"/>
                </a:solidFill>
              </a:defRPr>
            </a:pPr>
            <a:r>
              <a:rPr sz="1875" b="1">
                <a:solidFill>
                  <a:srgbClr val="181818"/>
                </a:solidFill>
              </a:rPr>
              <a:t>可交给动画部门</a:t>
            </a:r>
          </a:p>
          <a:p xmlns:a="http://schemas.openxmlformats.org/drawingml/2006/main">
            <a:pPr algn="ctr">
              <a:defRPr sz="1875" b="1">
                <a:solidFill>
                  <a:srgbClr val="181818"/>
                </a:solidFill>
              </a:defRPr>
            </a:pPr>
            <a:r>
              <a:rPr sz="1875" b="1">
                <a:solidFill>
                  <a:srgbClr val="181818"/>
                </a:solidFill>
              </a:rPr>
              <a:t>继续制作的镜头</a:t>
            </a:r>
          </a:p>
        </p:txBody>
      </p:sp>
      <p:sp>
        <p:nvSpPr>
          <p:cNvPr id="3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5BD3800-A151-48E9-9396-B759767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92F66793-6915-4195-A4E0-798B677C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3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10F533D-40F3-4F80-9988-740A482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1621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6">
            <a:extLst xmlns:a="http://schemas.openxmlformats.org/drawingml/2006/main">
              <a:ext uri="{FF2B5EF4-FFF2-40B4-BE49-F238E27FC236}">
                <a16:creationId xmlns:a16="http://schemas.microsoft.com/office/drawing/2014/main" id="{F5585284-E652-4D04-93CF-121E2D82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BDBD"/>
                </a:solidFill>
              </a:defRPr>
            </a:pPr>
            <a:r>
              <a:rPr sz="1200" b="1">
                <a:solidFill>
                  <a:srgbClr val="BDBDBD"/>
                </a:solidFill>
              </a:rPr>
              <a:t>Back End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65D1459-FD9C-4523-8C6B-F4EBCB5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CG 后端把“能动的资产”变成“能上映的镜头”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1FEADA75-757B-4050-9309-A904E272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ck-0-box">
            <a:extLst xmlns:a="http://schemas.openxmlformats.org/drawingml/2006/main">
              <a:ext uri="{FF2B5EF4-FFF2-40B4-BE49-F238E27FC236}">
                <a16:creationId xmlns:a16="http://schemas.microsoft.com/office/drawing/2014/main" id="{D96F1DBC-A64A-416B-BF68-CE99918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62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ck-0-label">
            <a:extLst xmlns:a="http://schemas.openxmlformats.org/drawingml/2006/main">
              <a:ext uri="{FF2B5EF4-FFF2-40B4-BE49-F238E27FC236}">
                <a16:creationId xmlns:a16="http://schemas.microsoft.com/office/drawing/2014/main" id="{1386DF31-6CF4-43A0-A068-31F0C4E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5E5E"/>
                </a:solidFill>
              </a:defRPr>
            </a:pPr>
            <a:r>
              <a:rPr sz="1350" b="1">
                <a:solidFill>
                  <a:srgbClr val="5E5E5E"/>
                </a:solidFill>
              </a:rPr>
              <a:t>01 / 表演</a:t>
            </a:r>
          </a:p>
        </p:txBody>
      </p:sp>
      <p:sp>
        <p:nvSpPr>
          <p:cNvPr id="6" name="back-0-body">
            <a:extLst xmlns:a="http://schemas.openxmlformats.org/drawingml/2006/main">
              <a:ext uri="{FF2B5EF4-FFF2-40B4-BE49-F238E27FC236}">
                <a16:creationId xmlns:a16="http://schemas.microsoft.com/office/drawing/2014/main" id="{AC88A221-4FA5-4655-B6DA-3102C1B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19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Animation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Crowd</a:t>
            </a:r>
          </a:p>
        </p:txBody>
      </p:sp>
      <p:sp>
        <p:nvSpPr>
          <p:cNvPr id="7" name="back-arrow-0">
            <a:extLst xmlns:a="http://schemas.openxmlformats.org/drawingml/2006/main">
              <a:ext uri="{FF2B5EF4-FFF2-40B4-BE49-F238E27FC236}">
                <a16:creationId xmlns:a16="http://schemas.microsoft.com/office/drawing/2014/main" id="{8810685A-581C-495B-B43B-5125940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back-1-box">
            <a:extLst xmlns:a="http://schemas.openxmlformats.org/drawingml/2006/main">
              <a:ext uri="{FF2B5EF4-FFF2-40B4-BE49-F238E27FC236}">
                <a16:creationId xmlns:a16="http://schemas.microsoft.com/office/drawing/2014/main" id="{FA9C301B-C15F-458B-9B7F-5FFFB379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362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-1-label">
            <a:extLst xmlns:a="http://schemas.openxmlformats.org/drawingml/2006/main">
              <a:ext uri="{FF2B5EF4-FFF2-40B4-BE49-F238E27FC236}">
                <a16:creationId xmlns:a16="http://schemas.microsoft.com/office/drawing/2014/main" id="{CD355122-B161-4EFB-A437-2849FC8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5E5E"/>
                </a:solidFill>
              </a:defRPr>
            </a:pPr>
            <a:r>
              <a:rPr sz="1350" b="1">
                <a:solidFill>
                  <a:srgbClr val="5E5E5E"/>
                </a:solidFill>
              </a:rPr>
              <a:t>02 / 动态效果</a:t>
            </a:r>
          </a:p>
        </p:txBody>
      </p:sp>
      <p:sp>
        <p:nvSpPr>
          <p:cNvPr id="10" name="back-1-body">
            <a:extLst xmlns:a="http://schemas.openxmlformats.org/drawingml/2006/main">
              <a:ext uri="{FF2B5EF4-FFF2-40B4-BE49-F238E27FC236}">
                <a16:creationId xmlns:a16="http://schemas.microsoft.com/office/drawing/2014/main" id="{808B6AC7-4A70-483A-B18D-714E3A30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019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FX / CFX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Matte Painting</a:t>
            </a:r>
          </a:p>
        </p:txBody>
      </p:sp>
      <p:sp>
        <p:nvSpPr>
          <p:cNvPr id="11" name="back-arrow-1">
            <a:extLst xmlns:a="http://schemas.openxmlformats.org/drawingml/2006/main">
              <a:ext uri="{FF2B5EF4-FFF2-40B4-BE49-F238E27FC236}">
                <a16:creationId xmlns:a16="http://schemas.microsoft.com/office/drawing/2014/main" id="{14C0D52A-7BEB-4747-8704-98375C7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back-2-box">
            <a:extLst xmlns:a="http://schemas.openxmlformats.org/drawingml/2006/main">
              <a:ext uri="{FF2B5EF4-FFF2-40B4-BE49-F238E27FC236}">
                <a16:creationId xmlns:a16="http://schemas.microsoft.com/office/drawing/2014/main" id="{EB747171-B201-47C2-9EFE-FE0E6C8D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362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ck-2-label">
            <a:extLst xmlns:a="http://schemas.openxmlformats.org/drawingml/2006/main">
              <a:ext uri="{FF2B5EF4-FFF2-40B4-BE49-F238E27FC236}">
                <a16:creationId xmlns:a16="http://schemas.microsoft.com/office/drawing/2014/main" id="{E06E5339-893F-40EC-8BFD-4708723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5E5E"/>
                </a:solidFill>
              </a:defRPr>
            </a:pPr>
            <a:r>
              <a:rPr sz="1350" b="1">
                <a:solidFill>
                  <a:srgbClr val="5E5E5E"/>
                </a:solidFill>
              </a:rPr>
              <a:t>03 / 画面整合</a:t>
            </a:r>
          </a:p>
        </p:txBody>
      </p:sp>
      <p:sp>
        <p:nvSpPr>
          <p:cNvPr id="14" name="back-2-body">
            <a:extLst xmlns:a="http://schemas.openxmlformats.org/drawingml/2006/main">
              <a:ext uri="{FF2B5EF4-FFF2-40B4-BE49-F238E27FC236}">
                <a16:creationId xmlns:a16="http://schemas.microsoft.com/office/drawing/2014/main" id="{68647610-64C4-4CF2-B0A6-3C1FF5A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019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Lighting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Render / Comp</a:t>
            </a:r>
          </a:p>
        </p:txBody>
      </p:sp>
      <p:sp>
        <p:nvSpPr>
          <p:cNvPr id="15" name="back-arrow-2">
            <a:extLst xmlns:a="http://schemas.openxmlformats.org/drawingml/2006/main">
              <a:ext uri="{FF2B5EF4-FFF2-40B4-BE49-F238E27FC236}">
                <a16:creationId xmlns:a16="http://schemas.microsoft.com/office/drawing/2014/main" id="{87064F80-F0B3-4615-AA80-0E37DFF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back-3-box">
            <a:extLst xmlns:a="http://schemas.openxmlformats.org/drawingml/2006/main">
              <a:ext uri="{FF2B5EF4-FFF2-40B4-BE49-F238E27FC236}">
                <a16:creationId xmlns:a16="http://schemas.microsoft.com/office/drawing/2014/main" id="{46C11145-7908-4B66-B88C-B4A62A79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6289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ck-3-label">
            <a:extLst xmlns:a="http://schemas.openxmlformats.org/drawingml/2006/main">
              <a:ext uri="{FF2B5EF4-FFF2-40B4-BE49-F238E27FC236}">
                <a16:creationId xmlns:a16="http://schemas.microsoft.com/office/drawing/2014/main" id="{F8E02A55-F2D3-42E0-9E28-6402ABF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5E5E"/>
                </a:solidFill>
              </a:defRPr>
            </a:pPr>
            <a:r>
              <a:rPr sz="1350" b="1">
                <a:solidFill>
                  <a:srgbClr val="5E5E5E"/>
                </a:solidFill>
              </a:rPr>
              <a:t>04 / 最终关卡</a:t>
            </a:r>
          </a:p>
        </p:txBody>
      </p:sp>
      <p:sp>
        <p:nvSpPr>
          <p:cNvPr id="18" name="back-3-body">
            <a:extLst xmlns:a="http://schemas.openxmlformats.org/drawingml/2006/main">
              <a:ext uri="{FF2B5EF4-FFF2-40B4-BE49-F238E27FC236}">
                <a16:creationId xmlns:a16="http://schemas.microsoft.com/office/drawing/2014/main" id="{797960D3-BBAE-419A-B942-8FB0E8C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Image Finalizing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质检 / 修补</a:t>
            </a:r>
          </a:p>
        </p:txBody>
      </p:sp>
      <p:sp>
        <p:nvSpPr>
          <p:cNvPr id="19" name="back-handkey">
            <a:extLst xmlns:a="http://schemas.openxmlformats.org/drawingml/2006/main">
              <a:ext uri="{FF2B5EF4-FFF2-40B4-BE49-F238E27FC236}">
                <a16:creationId xmlns:a16="http://schemas.microsoft.com/office/drawing/2014/main" id="{CFCCA25F-9F25-487F-BEBB-33E1FF7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梦工厂案例：绝大多数角色动画仍以动画师手工关键帧为主。</a:t>
            </a:r>
          </a:p>
        </p:txBody>
      </p:sp>
      <p:sp>
        <p:nvSpPr>
          <p:cNvPr id="20" name="back-note-rule">
            <a:extLst xmlns:a="http://schemas.openxmlformats.org/drawingml/2006/main">
              <a:ext uri="{FF2B5EF4-FFF2-40B4-BE49-F238E27FC236}">
                <a16:creationId xmlns:a16="http://schemas.microsoft.com/office/drawing/2014/main" id="{5BC10AAF-01ED-420E-9D40-DEFF3627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ck-crowd-note">
            <a:extLst xmlns:a="http://schemas.openxmlformats.org/drawingml/2006/main">
              <a:ext uri="{FF2B5EF4-FFF2-40B4-BE49-F238E27FC236}">
                <a16:creationId xmlns:a16="http://schemas.microsoft.com/office/drawing/2014/main" id="{376212F2-0125-4E53-8C28-EE60D6E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C4C4"/>
                </a:solidFill>
              </a:defRPr>
            </a:pPr>
            <a:r>
              <a:rPr sz="1425" b="0">
                <a:solidFill>
                  <a:srgbClr val="C4C4C4"/>
                </a:solidFill>
              </a:rPr>
              <a:t>“超过 8 个动画主体交给 Crowd”是视频中的公司示例，不是行业统一规则。</a:t>
            </a:r>
          </a:p>
        </p:txBody>
      </p:sp>
      <p:sp>
        <p:nvSpPr>
          <p:cNvPr id="22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86F8011-D8A1-41B7-A625-77A815B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6BCCA2CF-DEA3-4F56-99B8-6961DAD6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CG 动画工业化制作流程</a:t>
            </a:r>
          </a:p>
        </p:txBody>
      </p:sp>
      <p:sp>
        <p:nvSpPr>
          <p:cNvPr id="2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900C563-F2BE-46BD-910E-388736A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FCFCF"/>
                </a:solidFill>
              </a:defRPr>
            </a:pPr>
            <a:r>
              <a:rPr sz="1200" b="1">
                <a:solidFill>
                  <a:srgbClr val="CFCFC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5620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7">
            <a:extLst xmlns:a="http://schemas.openxmlformats.org/drawingml/2006/main">
              <a:ext uri="{FF2B5EF4-FFF2-40B4-BE49-F238E27FC236}">
                <a16:creationId xmlns:a16="http://schemas.microsoft.com/office/drawing/2014/main" id="{C1373ED0-F5E9-4C82-B850-B91D7E7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协作比单点能力更重要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78EB71F-6E2A-4AFD-AAEE-034EB7A3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成片质量往往取决于三个交接处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D68FFB89-BA73-4051-994B-DC22EA18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andoff-num-01">
            <a:extLst xmlns:a="http://schemas.openxmlformats.org/drawingml/2006/main">
              <a:ext uri="{FF2B5EF4-FFF2-40B4-BE49-F238E27FC236}">
                <a16:creationId xmlns:a16="http://schemas.microsoft.com/office/drawing/2014/main" id="{5DFFFCB7-55F9-48D9-9718-4AE7C2D6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A9A9A"/>
                </a:solidFill>
              </a:defRPr>
            </a:pPr>
            <a:r>
              <a:rPr sz="3300" b="1">
                <a:solidFill>
                  <a:srgbClr val="9A9A9A"/>
                </a:solidFill>
              </a:rPr>
              <a:t>01</a:t>
            </a:r>
          </a:p>
        </p:txBody>
      </p:sp>
      <p:sp>
        <p:nvSpPr>
          <p:cNvPr id="5" name="handoff-flow-01">
            <a:extLst xmlns:a="http://schemas.openxmlformats.org/drawingml/2006/main">
              <a:ext uri="{FF2B5EF4-FFF2-40B4-BE49-F238E27FC236}">
                <a16:creationId xmlns:a16="http://schemas.microsoft.com/office/drawing/2014/main" id="{021BE1F8-1F0E-40A9-916A-A0E76F3F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19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818"/>
                </a:solidFill>
              </a:defRPr>
            </a:pPr>
            <a:r>
              <a:rPr sz="1875" b="1">
                <a:solidFill>
                  <a:srgbClr val="181818"/>
                </a:solidFill>
              </a:rPr>
              <a:t>Visual Development  →  VFX Supervisor  →  CG Teams</a:t>
            </a:r>
          </a:p>
        </p:txBody>
      </p:sp>
      <p:sp>
        <p:nvSpPr>
          <p:cNvPr id="6" name="handoff-point-bg-01">
            <a:extLst xmlns:a="http://schemas.openxmlformats.org/drawingml/2006/main">
              <a:ext uri="{FF2B5EF4-FFF2-40B4-BE49-F238E27FC236}">
                <a16:creationId xmlns:a16="http://schemas.microsoft.com/office/drawing/2014/main" id="{4E3A3EC4-B6C4-41B1-B739-BFF0C91B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andoff-point-01">
            <a:extLst xmlns:a="http://schemas.openxmlformats.org/drawingml/2006/main">
              <a:ext uri="{FF2B5EF4-FFF2-40B4-BE49-F238E27FC236}">
                <a16:creationId xmlns:a16="http://schemas.microsoft.com/office/drawing/2014/main" id="{B454E39C-298A-490F-99D9-DB9C5438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概念能否真正落地</a:t>
            </a:r>
          </a:p>
        </p:txBody>
      </p:sp>
      <p:sp>
        <p:nvSpPr>
          <p:cNvPr id="8" name="handoff-rule-01">
            <a:extLst xmlns:a="http://schemas.openxmlformats.org/drawingml/2006/main">
              <a:ext uri="{FF2B5EF4-FFF2-40B4-BE49-F238E27FC236}">
                <a16:creationId xmlns:a16="http://schemas.microsoft.com/office/drawing/2014/main" id="{32D3672E-0873-4E9A-89C1-E7263944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ndoff-num-02">
            <a:extLst xmlns:a="http://schemas.openxmlformats.org/drawingml/2006/main">
              <a:ext uri="{FF2B5EF4-FFF2-40B4-BE49-F238E27FC236}">
                <a16:creationId xmlns:a16="http://schemas.microsoft.com/office/drawing/2014/main" id="{AEB4D094-D60C-40FA-8CBE-E892DF06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A9A9A"/>
                </a:solidFill>
              </a:defRPr>
            </a:pPr>
            <a:r>
              <a:rPr sz="3300" b="1">
                <a:solidFill>
                  <a:srgbClr val="9A9A9A"/>
                </a:solidFill>
              </a:rPr>
              <a:t>02</a:t>
            </a:r>
          </a:p>
        </p:txBody>
      </p:sp>
      <p:sp>
        <p:nvSpPr>
          <p:cNvPr id="10" name="handoff-flow-02">
            <a:extLst xmlns:a="http://schemas.openxmlformats.org/drawingml/2006/main">
              <a:ext uri="{FF2B5EF4-FFF2-40B4-BE49-F238E27FC236}">
                <a16:creationId xmlns:a16="http://schemas.microsoft.com/office/drawing/2014/main" id="{ACB4CC24-9A2C-402D-A8A0-C93659C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19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818"/>
                </a:solidFill>
              </a:defRPr>
            </a:pPr>
            <a:r>
              <a:rPr sz="1875" b="1">
                <a:solidFill>
                  <a:srgbClr val="181818"/>
                </a:solidFill>
              </a:rPr>
              <a:t>Rigging  ↔  Animation</a:t>
            </a:r>
          </a:p>
        </p:txBody>
      </p:sp>
      <p:sp>
        <p:nvSpPr>
          <p:cNvPr id="11" name="handoff-point-bg-02">
            <a:extLst xmlns:a="http://schemas.openxmlformats.org/drawingml/2006/main">
              <a:ext uri="{FF2B5EF4-FFF2-40B4-BE49-F238E27FC236}">
                <a16:creationId xmlns:a16="http://schemas.microsoft.com/office/drawing/2014/main" id="{9997ADDA-B1DE-4681-ABF2-3D493C8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ndoff-point-02">
            <a:extLst xmlns:a="http://schemas.openxmlformats.org/drawingml/2006/main">
              <a:ext uri="{FF2B5EF4-FFF2-40B4-BE49-F238E27FC236}">
                <a16:creationId xmlns:a16="http://schemas.microsoft.com/office/drawing/2014/main" id="{EF5D3405-66B1-4A1F-BEA3-3DBE9374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控制器能否支持角色表演</a:t>
            </a:r>
          </a:p>
        </p:txBody>
      </p:sp>
      <p:sp>
        <p:nvSpPr>
          <p:cNvPr id="13" name="handoff-rule-02">
            <a:extLst xmlns:a="http://schemas.openxmlformats.org/drawingml/2006/main">
              <a:ext uri="{FF2B5EF4-FFF2-40B4-BE49-F238E27FC236}">
                <a16:creationId xmlns:a16="http://schemas.microsoft.com/office/drawing/2014/main" id="{7941E7A0-E7DE-407B-B5B9-9FF9835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andoff-num-03">
            <a:extLst xmlns:a="http://schemas.openxmlformats.org/drawingml/2006/main">
              <a:ext uri="{FF2B5EF4-FFF2-40B4-BE49-F238E27FC236}">
                <a16:creationId xmlns:a16="http://schemas.microsoft.com/office/drawing/2014/main" id="{06377FE4-A2B1-410E-8D60-0DA90914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9A9A9A"/>
                </a:solidFill>
              </a:defRPr>
            </a:pPr>
            <a:r>
              <a:rPr sz="3300" b="1">
                <a:solidFill>
                  <a:srgbClr val="9A9A9A"/>
                </a:solidFill>
              </a:rPr>
              <a:t>03</a:t>
            </a:r>
          </a:p>
        </p:txBody>
      </p:sp>
      <p:sp>
        <p:nvSpPr>
          <p:cNvPr id="15" name="handoff-flow-03">
            <a:extLst xmlns:a="http://schemas.openxmlformats.org/drawingml/2006/main">
              <a:ext uri="{FF2B5EF4-FFF2-40B4-BE49-F238E27FC236}">
                <a16:creationId xmlns:a16="http://schemas.microsoft.com/office/drawing/2014/main" id="{D661B8A7-358C-45DA-B29F-E89AF4ED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818"/>
                </a:solidFill>
              </a:defRPr>
            </a:pPr>
            <a:r>
              <a:rPr sz="1875" b="1">
                <a:solidFill>
                  <a:srgbClr val="181818"/>
                </a:solidFill>
              </a:rPr>
              <a:t>所有上游部门  →  Lighting  →  Final Image</a:t>
            </a:r>
          </a:p>
        </p:txBody>
      </p:sp>
      <p:sp>
        <p:nvSpPr>
          <p:cNvPr id="16" name="handoff-point-bg-03">
            <a:extLst xmlns:a="http://schemas.openxmlformats.org/drawingml/2006/main">
              <a:ext uri="{FF2B5EF4-FFF2-40B4-BE49-F238E27FC236}">
                <a16:creationId xmlns:a16="http://schemas.microsoft.com/office/drawing/2014/main" id="{74E85DFC-3A49-4F6F-9EEC-753C272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300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andoff-point-03">
            <a:extLst xmlns:a="http://schemas.openxmlformats.org/drawingml/2006/main">
              <a:ext uri="{FF2B5EF4-FFF2-40B4-BE49-F238E27FC236}">
                <a16:creationId xmlns:a16="http://schemas.microsoft.com/office/drawing/2014/main" id="{E65BB5E7-E696-47D2-AC79-2418852D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148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不同元素能否统一成一个画面</a:t>
            </a:r>
          </a:p>
        </p:txBody>
      </p:sp>
      <p:sp>
        <p:nvSpPr>
          <p:cNvPr id="18" name="handoff-rule-03">
            <a:extLst xmlns:a="http://schemas.openxmlformats.org/drawingml/2006/main">
              <a:ext uri="{FF2B5EF4-FFF2-40B4-BE49-F238E27FC236}">
                <a16:creationId xmlns:a16="http://schemas.microsoft.com/office/drawing/2014/main" id="{097AC7A1-81CB-4537-835F-227FF47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andoff-tag-bg-0">
            <a:extLst xmlns:a="http://schemas.openxmlformats.org/drawingml/2006/main">
              <a:ext uri="{FF2B5EF4-FFF2-40B4-BE49-F238E27FC236}">
                <a16:creationId xmlns:a16="http://schemas.microsoft.com/office/drawing/2014/main" id="{3F0F529A-D563-4B0A-B8F2-6B1A9AC5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102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0" name="handoff-tag-0">
            <a:extLst xmlns:a="http://schemas.openxmlformats.org/drawingml/2006/main">
              <a:ext uri="{FF2B5EF4-FFF2-40B4-BE49-F238E27FC236}">
                <a16:creationId xmlns:a16="http://schemas.microsoft.com/office/drawing/2014/main" id="{932B76E7-3276-4F10-9239-B5FC679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05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交接规范</a:t>
            </a:r>
          </a:p>
        </p:txBody>
      </p:sp>
      <p:sp>
        <p:nvSpPr>
          <p:cNvPr id="21" name="handoff-tag-bg-1">
            <a:extLst xmlns:a="http://schemas.openxmlformats.org/drawingml/2006/main">
              <a:ext uri="{FF2B5EF4-FFF2-40B4-BE49-F238E27FC236}">
                <a16:creationId xmlns:a16="http://schemas.microsoft.com/office/drawing/2014/main" id="{99B618D2-AAC6-4B8B-A22D-9EF6ED1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102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2" name="handoff-tag-1">
            <a:extLst xmlns:a="http://schemas.openxmlformats.org/drawingml/2006/main">
              <a:ext uri="{FF2B5EF4-FFF2-40B4-BE49-F238E27FC236}">
                <a16:creationId xmlns:a16="http://schemas.microsoft.com/office/drawing/2014/main" id="{7DDBC6FE-8244-47DC-AFC3-A78A3B8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05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审核反馈</a:t>
            </a:r>
          </a:p>
        </p:txBody>
      </p:sp>
      <p:sp>
        <p:nvSpPr>
          <p:cNvPr id="23" name="handoff-tag-bg-2">
            <a:extLst xmlns:a="http://schemas.openxmlformats.org/drawingml/2006/main">
              <a:ext uri="{FF2B5EF4-FFF2-40B4-BE49-F238E27FC236}">
                <a16:creationId xmlns:a16="http://schemas.microsoft.com/office/drawing/2014/main" id="{D90D6862-DA15-4737-AC0C-DAB98E8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4" name="handoff-tag-2">
            <a:extLst xmlns:a="http://schemas.openxmlformats.org/drawingml/2006/main">
              <a:ext uri="{FF2B5EF4-FFF2-40B4-BE49-F238E27FC236}">
                <a16:creationId xmlns:a16="http://schemas.microsoft.com/office/drawing/2014/main" id="{2ED5745D-5A2E-4B62-8B41-E407622E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1818"/>
                </a:solidFill>
              </a:defRPr>
            </a:pPr>
            <a:r>
              <a:rPr sz="1500" b="1">
                <a:solidFill>
                  <a:srgbClr val="181818"/>
                </a:solidFill>
              </a:rPr>
              <a:t>版本管理</a:t>
            </a:r>
          </a:p>
        </p:txBody>
      </p:sp>
      <p:sp>
        <p:nvSpPr>
          <p:cNvPr id="2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3FAA6A8-FFAE-4BAC-A055-0435769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34EDE1F2-700B-4658-B02A-49C42245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54E14ED6-BE59-4918-9F35-938BA57F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02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8">
            <a:extLst xmlns:a="http://schemas.openxmlformats.org/drawingml/2006/main">
              <a:ext uri="{FF2B5EF4-FFF2-40B4-BE49-F238E27FC236}">
                <a16:creationId xmlns:a16="http://schemas.microsoft.com/office/drawing/2014/main" id="{EF7EC905-F093-4185-809E-E01110AB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Production + Technology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126790A-D2A2-49EA-96B5-89F41B9F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看不见的支持层，决定流程能否持续运行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B6D6F413-556F-4E4C-9E80-9C68696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-production-title">
            <a:extLst xmlns:a="http://schemas.openxmlformats.org/drawingml/2006/main">
              <a:ext uri="{FF2B5EF4-FFF2-40B4-BE49-F238E27FC236}">
                <a16:creationId xmlns:a16="http://schemas.microsoft.com/office/drawing/2014/main" id="{0B0FB788-6E52-46EE-9E5B-407475F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818"/>
                </a:solidFill>
              </a:defRPr>
            </a:pPr>
            <a:r>
              <a:rPr sz="2400" b="1">
                <a:solidFill>
                  <a:srgbClr val="181818"/>
                </a:solidFill>
              </a:rPr>
              <a:t>制作管理</a:t>
            </a:r>
          </a:p>
        </p:txBody>
      </p:sp>
      <p:sp>
        <p:nvSpPr>
          <p:cNvPr id="5" name="support-production-sub">
            <a:extLst xmlns:a="http://schemas.openxmlformats.org/drawingml/2006/main">
              <a:ext uri="{FF2B5EF4-FFF2-40B4-BE49-F238E27FC236}">
                <a16:creationId xmlns:a16="http://schemas.microsoft.com/office/drawing/2014/main" id="{57215D29-52A0-43BA-B510-850E72DE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把创意目标转成可执行任务</a:t>
            </a:r>
          </a:p>
        </p:txBody>
      </p:sp>
      <p:sp>
        <p:nvSpPr>
          <p:cNvPr id="6" name="prod-role-0">
            <a:extLst xmlns:a="http://schemas.openxmlformats.org/drawingml/2006/main">
              <a:ext uri="{FF2B5EF4-FFF2-40B4-BE49-F238E27FC236}">
                <a16:creationId xmlns:a16="http://schemas.microsoft.com/office/drawing/2014/main" id="{5F4EA42C-6C3D-453E-B01C-0701D63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Producer</a:t>
            </a:r>
          </a:p>
        </p:txBody>
      </p:sp>
      <p:sp>
        <p:nvSpPr>
          <p:cNvPr id="7" name="prod-desc-0">
            <a:extLst xmlns:a="http://schemas.openxmlformats.org/drawingml/2006/main">
              <a:ext uri="{FF2B5EF4-FFF2-40B4-BE49-F238E27FC236}">
                <a16:creationId xmlns:a16="http://schemas.microsoft.com/office/drawing/2014/main" id="{C964732A-3D27-484F-AA43-6C65A333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总体预算、资源、人员与进度</a:t>
            </a:r>
          </a:p>
        </p:txBody>
      </p:sp>
      <p:sp>
        <p:nvSpPr>
          <p:cNvPr id="8" name="prod-line-0">
            <a:extLst xmlns:a="http://schemas.openxmlformats.org/drawingml/2006/main">
              <a:ext uri="{FF2B5EF4-FFF2-40B4-BE49-F238E27FC236}">
                <a16:creationId xmlns:a16="http://schemas.microsoft.com/office/drawing/2014/main" id="{3AA384C8-EA6A-478C-B4E3-6AB2A3AD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d-role-1">
            <a:extLst xmlns:a="http://schemas.openxmlformats.org/drawingml/2006/main">
              <a:ext uri="{FF2B5EF4-FFF2-40B4-BE49-F238E27FC236}">
                <a16:creationId xmlns:a16="http://schemas.microsoft.com/office/drawing/2014/main" id="{2E1505D6-A2A2-4766-A790-0026C04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Production Supervisor</a:t>
            </a:r>
          </a:p>
        </p:txBody>
      </p:sp>
      <p:sp>
        <p:nvSpPr>
          <p:cNvPr id="10" name="prod-desc-1">
            <a:extLst xmlns:a="http://schemas.openxmlformats.org/drawingml/2006/main">
              <a:ext uri="{FF2B5EF4-FFF2-40B4-BE49-F238E27FC236}">
                <a16:creationId xmlns:a16="http://schemas.microsoft.com/office/drawing/2014/main" id="{094C3609-1501-444F-B385-4F07DBC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部门级任务管理与预算控制</a:t>
            </a:r>
          </a:p>
        </p:txBody>
      </p:sp>
      <p:sp>
        <p:nvSpPr>
          <p:cNvPr id="11" name="prod-line-1">
            <a:extLst xmlns:a="http://schemas.openxmlformats.org/drawingml/2006/main">
              <a:ext uri="{FF2B5EF4-FFF2-40B4-BE49-F238E27FC236}">
                <a16:creationId xmlns:a16="http://schemas.microsoft.com/office/drawing/2014/main" id="{DCF72A54-3FE0-4150-851B-3D0F7CB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d-role-2">
            <a:extLst xmlns:a="http://schemas.openxmlformats.org/drawingml/2006/main">
              <a:ext uri="{FF2B5EF4-FFF2-40B4-BE49-F238E27FC236}">
                <a16:creationId xmlns:a16="http://schemas.microsoft.com/office/drawing/2014/main" id="{AD65F9E7-80C7-475D-8C43-E4E53BB7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Coordinator / Assistant</a:t>
            </a:r>
          </a:p>
        </p:txBody>
      </p:sp>
      <p:sp>
        <p:nvSpPr>
          <p:cNvPr id="13" name="prod-desc-2">
            <a:extLst xmlns:a="http://schemas.openxmlformats.org/drawingml/2006/main">
              <a:ext uri="{FF2B5EF4-FFF2-40B4-BE49-F238E27FC236}">
                <a16:creationId xmlns:a16="http://schemas.microsoft.com/office/drawing/2014/main" id="{3E1669F7-06E0-4E9D-BB64-1812B18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排期、沟通、记录与跟踪</a:t>
            </a:r>
          </a:p>
        </p:txBody>
      </p:sp>
      <p:sp>
        <p:nvSpPr>
          <p:cNvPr id="14" name="prod-line-2">
            <a:extLst xmlns:a="http://schemas.openxmlformats.org/drawingml/2006/main">
              <a:ext uri="{FF2B5EF4-FFF2-40B4-BE49-F238E27FC236}">
                <a16:creationId xmlns:a16="http://schemas.microsoft.com/office/drawing/2014/main" id="{A3446D81-DD24-45B3-8E78-F62846F1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pport-center-divider">
            <a:extLst xmlns:a="http://schemas.openxmlformats.org/drawingml/2006/main">
              <a:ext uri="{FF2B5EF4-FFF2-40B4-BE49-F238E27FC236}">
                <a16:creationId xmlns:a16="http://schemas.microsoft.com/office/drawing/2014/main" id="{1DD29548-C572-44F5-93D9-54EE0944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2405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pport-tech-title">
            <a:extLst xmlns:a="http://schemas.openxmlformats.org/drawingml/2006/main">
              <a:ext uri="{FF2B5EF4-FFF2-40B4-BE49-F238E27FC236}">
                <a16:creationId xmlns:a16="http://schemas.microsoft.com/office/drawing/2014/main" id="{85C01079-E1E4-48D1-B50A-42C5983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1818"/>
                </a:solidFill>
              </a:defRPr>
            </a:pPr>
            <a:r>
              <a:rPr sz="2400" b="1">
                <a:solidFill>
                  <a:srgbClr val="181818"/>
                </a:solidFill>
              </a:rPr>
              <a:t>技术支持</a:t>
            </a:r>
          </a:p>
        </p:txBody>
      </p:sp>
      <p:sp>
        <p:nvSpPr>
          <p:cNvPr id="17" name="support-tech-sub">
            <a:extLst xmlns:a="http://schemas.openxmlformats.org/drawingml/2006/main">
              <a:ext uri="{FF2B5EF4-FFF2-40B4-BE49-F238E27FC236}">
                <a16:creationId xmlns:a16="http://schemas.microsoft.com/office/drawing/2014/main" id="{09C0E087-1395-4764-BCB3-0E6F0676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5E5E"/>
                </a:solidFill>
              </a:defRPr>
            </a:pPr>
            <a:r>
              <a:rPr sz="1500" b="0">
                <a:solidFill>
                  <a:srgbClr val="5E5E5E"/>
                </a:solidFill>
              </a:rPr>
              <a:t>让数据、工具和算力在规模化生产中保持稳定</a:t>
            </a:r>
          </a:p>
        </p:txBody>
      </p:sp>
      <p:sp>
        <p:nvSpPr>
          <p:cNvPr id="18" name="tech-role-0">
            <a:extLst xmlns:a="http://schemas.openxmlformats.org/drawingml/2006/main">
              <a:ext uri="{FF2B5EF4-FFF2-40B4-BE49-F238E27FC236}">
                <a16:creationId xmlns:a16="http://schemas.microsoft.com/office/drawing/2014/main" id="{28250B83-604E-4377-951B-F533797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818"/>
                </a:solidFill>
              </a:defRPr>
            </a:pPr>
            <a:r>
              <a:rPr sz="1575" b="1">
                <a:solidFill>
                  <a:srgbClr val="181818"/>
                </a:solidFill>
              </a:rPr>
              <a:t>Department TD</a:t>
            </a:r>
          </a:p>
        </p:txBody>
      </p:sp>
      <p:sp>
        <p:nvSpPr>
          <p:cNvPr id="19" name="tech-desc-0">
            <a:extLst xmlns:a="http://schemas.openxmlformats.org/drawingml/2006/main">
              <a:ext uri="{FF2B5EF4-FFF2-40B4-BE49-F238E27FC236}">
                <a16:creationId xmlns:a16="http://schemas.microsoft.com/office/drawing/2014/main" id="{BD78BAC6-5560-4307-AE83-988E75E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解决对应部门的制作难题</a:t>
            </a:r>
          </a:p>
        </p:txBody>
      </p:sp>
      <p:sp>
        <p:nvSpPr>
          <p:cNvPr id="20" name="tech-line-0">
            <a:extLst xmlns:a="http://schemas.openxmlformats.org/drawingml/2006/main">
              <a:ext uri="{FF2B5EF4-FFF2-40B4-BE49-F238E27FC236}">
                <a16:creationId xmlns:a16="http://schemas.microsoft.com/office/drawing/2014/main" id="{407494B7-794E-463C-BDCE-BE81C3DF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ch-role-1">
            <a:extLst xmlns:a="http://schemas.openxmlformats.org/drawingml/2006/main">
              <a:ext uri="{FF2B5EF4-FFF2-40B4-BE49-F238E27FC236}">
                <a16:creationId xmlns:a16="http://schemas.microsoft.com/office/drawing/2014/main" id="{C29A8D74-7F35-4357-ACE4-92468C0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818"/>
                </a:solidFill>
              </a:defRPr>
            </a:pPr>
            <a:r>
              <a:rPr sz="1575" b="1">
                <a:solidFill>
                  <a:srgbClr val="181818"/>
                </a:solidFill>
              </a:rPr>
              <a:t>Pipeline TD</a:t>
            </a:r>
          </a:p>
        </p:txBody>
      </p:sp>
      <p:sp>
        <p:nvSpPr>
          <p:cNvPr id="22" name="tech-desc-1">
            <a:extLst xmlns:a="http://schemas.openxmlformats.org/drawingml/2006/main">
              <a:ext uri="{FF2B5EF4-FFF2-40B4-BE49-F238E27FC236}">
                <a16:creationId xmlns:a16="http://schemas.microsoft.com/office/drawing/2014/main" id="{E616BD04-F5F7-4C5F-9FC6-3421787D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766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维护流程、数据与自动化工具</a:t>
            </a:r>
          </a:p>
        </p:txBody>
      </p:sp>
      <p:sp>
        <p:nvSpPr>
          <p:cNvPr id="23" name="tech-line-1">
            <a:extLst xmlns:a="http://schemas.openxmlformats.org/drawingml/2006/main">
              <a:ext uri="{FF2B5EF4-FFF2-40B4-BE49-F238E27FC236}">
                <a16:creationId xmlns:a16="http://schemas.microsoft.com/office/drawing/2014/main" id="{935C67DD-1F78-4F17-8E09-D8CFE2DE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ch-role-2">
            <a:extLst xmlns:a="http://schemas.openxmlformats.org/drawingml/2006/main">
              <a:ext uri="{FF2B5EF4-FFF2-40B4-BE49-F238E27FC236}">
                <a16:creationId xmlns:a16="http://schemas.microsoft.com/office/drawing/2014/main" id="{BF11BD27-878A-461F-BCE8-D55E427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818"/>
                </a:solidFill>
              </a:defRPr>
            </a:pPr>
            <a:r>
              <a:rPr sz="1575" b="1">
                <a:solidFill>
                  <a:srgbClr val="181818"/>
                </a:solidFill>
              </a:rPr>
              <a:t>R&amp;D</a:t>
            </a:r>
          </a:p>
        </p:txBody>
      </p:sp>
      <p:sp>
        <p:nvSpPr>
          <p:cNvPr id="25" name="tech-desc-2">
            <a:extLst xmlns:a="http://schemas.openxmlformats.org/drawingml/2006/main">
              <a:ext uri="{FF2B5EF4-FFF2-40B4-BE49-F238E27FC236}">
                <a16:creationId xmlns:a16="http://schemas.microsoft.com/office/drawing/2014/main" id="{CC304909-6439-49D3-8D91-7126D7F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研发新技术、解算器和新流程</a:t>
            </a:r>
          </a:p>
        </p:txBody>
      </p:sp>
      <p:sp>
        <p:nvSpPr>
          <p:cNvPr id="26" name="tech-line-2">
            <a:extLst xmlns:a="http://schemas.openxmlformats.org/drawingml/2006/main">
              <a:ext uri="{FF2B5EF4-FFF2-40B4-BE49-F238E27FC236}">
                <a16:creationId xmlns:a16="http://schemas.microsoft.com/office/drawing/2014/main" id="{0FF56AB2-BB8B-4B2F-BCCB-740A8D31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ch-role-3">
            <a:extLst xmlns:a="http://schemas.openxmlformats.org/drawingml/2006/main">
              <a:ext uri="{FF2B5EF4-FFF2-40B4-BE49-F238E27FC236}">
                <a16:creationId xmlns:a16="http://schemas.microsoft.com/office/drawing/2014/main" id="{F7159F1B-39AD-45CF-9F03-5EE27913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818"/>
                </a:solidFill>
              </a:defRPr>
            </a:pPr>
            <a:r>
              <a:rPr sz="1575" b="1">
                <a:solidFill>
                  <a:srgbClr val="181818"/>
                </a:solidFill>
              </a:rPr>
              <a:t>IT</a:t>
            </a:r>
          </a:p>
        </p:txBody>
      </p:sp>
      <p:sp>
        <p:nvSpPr>
          <p:cNvPr id="28" name="tech-desc-3">
            <a:extLst xmlns:a="http://schemas.openxmlformats.org/drawingml/2006/main">
              <a:ext uri="{FF2B5EF4-FFF2-40B4-BE49-F238E27FC236}">
                <a16:creationId xmlns:a16="http://schemas.microsoft.com/office/drawing/2014/main" id="{8FE4DD9A-FFF2-43F6-A16B-59D32E18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720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5E5E"/>
                </a:solidFill>
              </a:defRPr>
            </a:pPr>
            <a:r>
              <a:rPr sz="1425" b="0">
                <a:solidFill>
                  <a:srgbClr val="5E5E5E"/>
                </a:solidFill>
              </a:rPr>
              <a:t>保障设备、网络、存储与算力</a:t>
            </a:r>
          </a:p>
        </p:txBody>
      </p:sp>
      <p:sp>
        <p:nvSpPr>
          <p:cNvPr id="29" name="tech-line-3">
            <a:extLst xmlns:a="http://schemas.openxmlformats.org/drawingml/2006/main">
              <a:ext uri="{FF2B5EF4-FFF2-40B4-BE49-F238E27FC236}">
                <a16:creationId xmlns:a16="http://schemas.microsoft.com/office/drawing/2014/main" id="{182B3BE1-D647-4547-857C-074A68BF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4781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upport-takeaway-bg">
            <a:extLst xmlns:a="http://schemas.openxmlformats.org/drawingml/2006/main">
              <a:ext uri="{FF2B5EF4-FFF2-40B4-BE49-F238E27FC236}">
                <a16:creationId xmlns:a16="http://schemas.microsoft.com/office/drawing/2014/main" id="{333F80E0-F657-470F-A738-307209C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takeaway">
            <a:extLst xmlns:a="http://schemas.openxmlformats.org/drawingml/2006/main">
              <a:ext uri="{FF2B5EF4-FFF2-40B4-BE49-F238E27FC236}">
                <a16:creationId xmlns:a16="http://schemas.microsoft.com/office/drawing/2014/main" id="{44778FFD-18A3-4A37-A9C6-15DFCC2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Production 管进度与预算；Technology 管数据、工具与算力。</a:t>
            </a:r>
          </a:p>
        </p:txBody>
      </p:sp>
      <p:sp>
        <p:nvSpPr>
          <p:cNvPr id="32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68CD1A0-D79C-4B05-8386-855F2DEA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9F1D3B3C-E95A-4DF7-8D9F-7B68967F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3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1FE4DDFC-07A5-492B-9CDE-62F4784D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4379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9">
            <a:extLst xmlns:a="http://schemas.openxmlformats.org/drawingml/2006/main">
              <a:ext uri="{FF2B5EF4-FFF2-40B4-BE49-F238E27FC236}">
                <a16:creationId xmlns:a16="http://schemas.microsoft.com/office/drawing/2014/main" id="{8EE53CEA-24DA-4F81-A834-2EE404F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面向大四学生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4CE63DC-7465-4C69-BCE6-74355BF6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1818"/>
                </a:solidFill>
              </a:defRPr>
            </a:pPr>
            <a:r>
              <a:rPr sz="3600" b="1">
                <a:solidFill>
                  <a:srgbClr val="181818"/>
                </a:solidFill>
              </a:rPr>
              <a:t>选择方向前，先说清楚你的输入和输出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22EE3D6-AB2A-4F42-B0F3-8F12C123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o-head-role">
            <a:extLst xmlns:a="http://schemas.openxmlformats.org/drawingml/2006/main">
              <a:ext uri="{FF2B5EF4-FFF2-40B4-BE49-F238E27FC236}">
                <a16:creationId xmlns:a16="http://schemas.microsoft.com/office/drawing/2014/main" id="{FB3B766D-D96A-49F3-8852-474C4EB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5E5E"/>
                </a:solidFill>
              </a:defRPr>
            </a:pPr>
            <a:r>
              <a:rPr sz="1500" b="1">
                <a:solidFill>
                  <a:srgbClr val="5E5E5E"/>
                </a:solidFill>
              </a:rPr>
              <a:t>方向</a:t>
            </a:r>
          </a:p>
        </p:txBody>
      </p:sp>
      <p:sp>
        <p:nvSpPr>
          <p:cNvPr id="5" name="io-head-input">
            <a:extLst xmlns:a="http://schemas.openxmlformats.org/drawingml/2006/main">
              <a:ext uri="{FF2B5EF4-FFF2-40B4-BE49-F238E27FC236}">
                <a16:creationId xmlns:a16="http://schemas.microsoft.com/office/drawing/2014/main" id="{6BEB275B-9EDB-4251-BDC5-54873DDD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24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5E5E"/>
                </a:solidFill>
              </a:defRPr>
            </a:pPr>
            <a:r>
              <a:rPr sz="1500" b="1">
                <a:solidFill>
                  <a:srgbClr val="5E5E5E"/>
                </a:solidFill>
              </a:rPr>
              <a:t>接收什么</a:t>
            </a:r>
          </a:p>
        </p:txBody>
      </p:sp>
      <p:sp>
        <p:nvSpPr>
          <p:cNvPr id="6" name="io-head-output">
            <a:extLst xmlns:a="http://schemas.openxmlformats.org/drawingml/2006/main">
              <a:ext uri="{FF2B5EF4-FFF2-40B4-BE49-F238E27FC236}">
                <a16:creationId xmlns:a16="http://schemas.microsoft.com/office/drawing/2014/main" id="{10988582-A96B-48C6-8E3B-084EB2A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5E5E"/>
                </a:solidFill>
              </a:defRPr>
            </a:pPr>
            <a:r>
              <a:rPr sz="1500" b="1">
                <a:solidFill>
                  <a:srgbClr val="5E5E5E"/>
                </a:solidFill>
              </a:rPr>
              <a:t>交付什么</a:t>
            </a:r>
          </a:p>
        </p:txBody>
      </p:sp>
      <p:sp>
        <p:nvSpPr>
          <p:cNvPr id="7" name="io-header-rule">
            <a:extLst xmlns:a="http://schemas.openxmlformats.org/drawingml/2006/main">
              <a:ext uri="{FF2B5EF4-FFF2-40B4-BE49-F238E27FC236}">
                <a16:creationId xmlns:a16="http://schemas.microsoft.com/office/drawing/2014/main" id="{2C3CE04E-C18D-425A-8BCE-2CE2CF0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o-role-0">
            <a:extLst xmlns:a="http://schemas.openxmlformats.org/drawingml/2006/main">
              <a:ext uri="{FF2B5EF4-FFF2-40B4-BE49-F238E27FC236}">
                <a16:creationId xmlns:a16="http://schemas.microsoft.com/office/drawing/2014/main" id="{7FB6CF4F-FB8D-4009-9A6A-3141CDE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Modeling</a:t>
            </a:r>
          </a:p>
        </p:txBody>
      </p:sp>
      <p:sp>
        <p:nvSpPr>
          <p:cNvPr id="9" name="io-input-0">
            <a:extLst xmlns:a="http://schemas.openxmlformats.org/drawingml/2006/main">
              <a:ext uri="{FF2B5EF4-FFF2-40B4-BE49-F238E27FC236}">
                <a16:creationId xmlns:a16="http://schemas.microsoft.com/office/drawing/2014/main" id="{00706D7B-B49E-42DE-9CFC-54BD0AFC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5E5E"/>
                </a:solidFill>
              </a:defRPr>
            </a:pPr>
            <a:r>
              <a:rPr sz="1575" b="0">
                <a:solidFill>
                  <a:srgbClr val="5E5E5E"/>
                </a:solidFill>
              </a:rPr>
              <a:t>概念设计 / 比例设定</a:t>
            </a:r>
          </a:p>
        </p:txBody>
      </p:sp>
      <p:sp>
        <p:nvSpPr>
          <p:cNvPr id="10" name="io-output-0">
            <a:extLst xmlns:a="http://schemas.openxmlformats.org/drawingml/2006/main">
              <a:ext uri="{FF2B5EF4-FFF2-40B4-BE49-F238E27FC236}">
                <a16:creationId xmlns:a16="http://schemas.microsoft.com/office/drawing/2014/main" id="{C33A5E48-CFD9-4DF9-8F28-39AF45C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</a:rPr>
              <a:t>可绑定模型 / LOD</a:t>
            </a:r>
          </a:p>
        </p:txBody>
      </p:sp>
      <p:sp>
        <p:nvSpPr>
          <p:cNvPr id="11" name="io-row-0">
            <a:extLst xmlns:a="http://schemas.openxmlformats.org/drawingml/2006/main">
              <a:ext uri="{FF2B5EF4-FFF2-40B4-BE49-F238E27FC236}">
                <a16:creationId xmlns:a16="http://schemas.microsoft.com/office/drawing/2014/main" id="{F44CE12B-065E-45BB-8C32-7744A990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o-role-1">
            <a:extLst xmlns:a="http://schemas.openxmlformats.org/drawingml/2006/main">
              <a:ext uri="{FF2B5EF4-FFF2-40B4-BE49-F238E27FC236}">
                <a16:creationId xmlns:a16="http://schemas.microsoft.com/office/drawing/2014/main" id="{62E9C45C-5E34-4133-AA35-48AF777D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Rigging</a:t>
            </a:r>
          </a:p>
        </p:txBody>
      </p:sp>
      <p:sp>
        <p:nvSpPr>
          <p:cNvPr id="13" name="io-input-1">
            <a:extLst xmlns:a="http://schemas.openxmlformats.org/drawingml/2006/main">
              <a:ext uri="{FF2B5EF4-FFF2-40B4-BE49-F238E27FC236}">
                <a16:creationId xmlns:a16="http://schemas.microsoft.com/office/drawing/2014/main" id="{18B7D31E-82DF-49EF-B125-2C04BE91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5E5E"/>
                </a:solidFill>
              </a:defRPr>
            </a:pPr>
            <a:r>
              <a:rPr sz="1575" b="0">
                <a:solidFill>
                  <a:srgbClr val="5E5E5E"/>
                </a:solidFill>
              </a:rPr>
              <a:t>最终模型</a:t>
            </a:r>
          </a:p>
        </p:txBody>
      </p:sp>
      <p:sp>
        <p:nvSpPr>
          <p:cNvPr id="14" name="io-output-1">
            <a:extLst xmlns:a="http://schemas.openxmlformats.org/drawingml/2006/main">
              <a:ext uri="{FF2B5EF4-FFF2-40B4-BE49-F238E27FC236}">
                <a16:creationId xmlns:a16="http://schemas.microsoft.com/office/drawing/2014/main" id="{2D807517-1FE7-4BCD-9709-DD3163C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</a:rPr>
              <a:t>骨骼 / 蒙皮 / 控制器</a:t>
            </a:r>
          </a:p>
        </p:txBody>
      </p:sp>
      <p:sp>
        <p:nvSpPr>
          <p:cNvPr id="15" name="io-row-1">
            <a:extLst xmlns:a="http://schemas.openxmlformats.org/drawingml/2006/main">
              <a:ext uri="{FF2B5EF4-FFF2-40B4-BE49-F238E27FC236}">
                <a16:creationId xmlns:a16="http://schemas.microsoft.com/office/drawing/2014/main" id="{98427EE8-669D-47A3-A62F-FDABA268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o-role-2">
            <a:extLst xmlns:a="http://schemas.openxmlformats.org/drawingml/2006/main">
              <a:ext uri="{FF2B5EF4-FFF2-40B4-BE49-F238E27FC236}">
                <a16:creationId xmlns:a16="http://schemas.microsoft.com/office/drawing/2014/main" id="{98BF4454-7A89-4755-8FE5-5ED2865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Animation</a:t>
            </a:r>
          </a:p>
        </p:txBody>
      </p:sp>
      <p:sp>
        <p:nvSpPr>
          <p:cNvPr id="17" name="io-input-2">
            <a:extLst xmlns:a="http://schemas.openxmlformats.org/drawingml/2006/main">
              <a:ext uri="{FF2B5EF4-FFF2-40B4-BE49-F238E27FC236}">
                <a16:creationId xmlns:a16="http://schemas.microsoft.com/office/drawing/2014/main" id="{EDEBC292-7CF6-4C8C-BC06-5D6C5642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28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5E5E"/>
                </a:solidFill>
              </a:defRPr>
            </a:pPr>
            <a:r>
              <a:rPr sz="1575" b="0">
                <a:solidFill>
                  <a:srgbClr val="5E5E5E"/>
                </a:solidFill>
              </a:rPr>
              <a:t>Rig / Layout</a:t>
            </a:r>
          </a:p>
        </p:txBody>
      </p:sp>
      <p:sp>
        <p:nvSpPr>
          <p:cNvPr id="18" name="io-output-2">
            <a:extLst xmlns:a="http://schemas.openxmlformats.org/drawingml/2006/main">
              <a:ext uri="{FF2B5EF4-FFF2-40B4-BE49-F238E27FC236}">
                <a16:creationId xmlns:a16="http://schemas.microsoft.com/office/drawing/2014/main" id="{D54DE399-70FC-4DC9-8907-8A1C4934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</a:rPr>
              <a:t>角色表演与镜头动画</a:t>
            </a:r>
          </a:p>
        </p:txBody>
      </p:sp>
      <p:sp>
        <p:nvSpPr>
          <p:cNvPr id="19" name="io-row-2">
            <a:extLst xmlns:a="http://schemas.openxmlformats.org/drawingml/2006/main">
              <a:ext uri="{FF2B5EF4-FFF2-40B4-BE49-F238E27FC236}">
                <a16:creationId xmlns:a16="http://schemas.microsoft.com/office/drawing/2014/main" id="{927FB829-2D70-4019-A2CF-CBEA5C10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o-role-3">
            <a:extLst xmlns:a="http://schemas.openxmlformats.org/drawingml/2006/main">
              <a:ext uri="{FF2B5EF4-FFF2-40B4-BE49-F238E27FC236}">
                <a16:creationId xmlns:a16="http://schemas.microsoft.com/office/drawing/2014/main" id="{A5492480-8AD2-4B43-8EBC-FB74C8FE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FX / CFX</a:t>
            </a:r>
          </a:p>
        </p:txBody>
      </p:sp>
      <p:sp>
        <p:nvSpPr>
          <p:cNvPr id="21" name="io-input-3">
            <a:extLst xmlns:a="http://schemas.openxmlformats.org/drawingml/2006/main">
              <a:ext uri="{FF2B5EF4-FFF2-40B4-BE49-F238E27FC236}">
                <a16:creationId xmlns:a16="http://schemas.microsoft.com/office/drawing/2014/main" id="{52095587-6160-43D6-AB88-10A9DE7C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62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5E5E"/>
                </a:solidFill>
              </a:defRPr>
            </a:pPr>
            <a:r>
              <a:rPr sz="1575" b="0">
                <a:solidFill>
                  <a:srgbClr val="5E5E5E"/>
                </a:solidFill>
              </a:rPr>
              <a:t>动画缓存 / 镜头需求</a:t>
            </a:r>
          </a:p>
        </p:txBody>
      </p:sp>
      <p:sp>
        <p:nvSpPr>
          <p:cNvPr id="22" name="io-output-3">
            <a:extLst xmlns:a="http://schemas.openxmlformats.org/drawingml/2006/main">
              <a:ext uri="{FF2B5EF4-FFF2-40B4-BE49-F238E27FC236}">
                <a16:creationId xmlns:a16="http://schemas.microsoft.com/office/drawing/2014/main" id="{49EECD19-F51E-492B-8FC3-1069596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62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</a:rPr>
              <a:t>模拟 / 程序化效果</a:t>
            </a:r>
          </a:p>
        </p:txBody>
      </p:sp>
      <p:sp>
        <p:nvSpPr>
          <p:cNvPr id="23" name="io-row-3">
            <a:extLst xmlns:a="http://schemas.openxmlformats.org/drawingml/2006/main">
              <a:ext uri="{FF2B5EF4-FFF2-40B4-BE49-F238E27FC236}">
                <a16:creationId xmlns:a16="http://schemas.microsoft.com/office/drawing/2014/main" id="{A9900B44-CA65-4365-8BFB-C96931A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o-role-4">
            <a:extLst xmlns:a="http://schemas.openxmlformats.org/drawingml/2006/main">
              <a:ext uri="{FF2B5EF4-FFF2-40B4-BE49-F238E27FC236}">
                <a16:creationId xmlns:a16="http://schemas.microsoft.com/office/drawing/2014/main" id="{E9AC1C05-87E9-40F7-B1A5-EC7A356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818"/>
                </a:solidFill>
              </a:defRPr>
            </a:pPr>
            <a:r>
              <a:rPr sz="1650" b="1">
                <a:solidFill>
                  <a:srgbClr val="181818"/>
                </a:solidFill>
              </a:rPr>
              <a:t>Lighting</a:t>
            </a:r>
          </a:p>
        </p:txBody>
      </p:sp>
      <p:sp>
        <p:nvSpPr>
          <p:cNvPr id="25" name="io-input-4">
            <a:extLst xmlns:a="http://schemas.openxmlformats.org/drawingml/2006/main">
              <a:ext uri="{FF2B5EF4-FFF2-40B4-BE49-F238E27FC236}">
                <a16:creationId xmlns:a16="http://schemas.microsoft.com/office/drawing/2014/main" id="{EAE2F94A-88CC-4FB5-8363-08B4282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72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5E5E"/>
                </a:solidFill>
              </a:defRPr>
            </a:pPr>
            <a:r>
              <a:rPr sz="1575" b="0">
                <a:solidFill>
                  <a:srgbClr val="5E5E5E"/>
                </a:solidFill>
              </a:rPr>
              <a:t>全部资产与缓存</a:t>
            </a:r>
          </a:p>
        </p:txBody>
      </p:sp>
      <p:sp>
        <p:nvSpPr>
          <p:cNvPr id="26" name="io-output-4">
            <a:extLst xmlns:a="http://schemas.openxmlformats.org/drawingml/2006/main">
              <a:ext uri="{FF2B5EF4-FFF2-40B4-BE49-F238E27FC236}">
                <a16:creationId xmlns:a16="http://schemas.microsoft.com/office/drawing/2014/main" id="{3C7837A1-64E8-4696-91DD-22099F29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818"/>
                </a:solidFill>
              </a:defRPr>
            </a:pPr>
            <a:r>
              <a:rPr sz="1575" b="0">
                <a:solidFill>
                  <a:srgbClr val="181818"/>
                </a:solidFill>
              </a:rPr>
              <a:t>统一的最终画面</a:t>
            </a:r>
          </a:p>
        </p:txBody>
      </p:sp>
      <p:sp>
        <p:nvSpPr>
          <p:cNvPr id="27" name="io-row-4">
            <a:extLst xmlns:a="http://schemas.openxmlformats.org/drawingml/2006/main">
              <a:ext uri="{FF2B5EF4-FFF2-40B4-BE49-F238E27FC236}">
                <a16:creationId xmlns:a16="http://schemas.microsoft.com/office/drawing/2014/main" id="{0A304191-2F6E-4BCD-A26C-D5E3D47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o-callout-bg">
            <a:extLst xmlns:a="http://schemas.openxmlformats.org/drawingml/2006/main">
              <a:ext uri="{FF2B5EF4-FFF2-40B4-BE49-F238E27FC236}">
                <a16:creationId xmlns:a16="http://schemas.microsoft.com/office/drawing/2014/main" id="{C7647702-3B3B-4D71-A7C7-5596D79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io-callout">
            <a:extLst xmlns:a="http://schemas.openxmlformats.org/drawingml/2006/main">
              <a:ext uri="{FF2B5EF4-FFF2-40B4-BE49-F238E27FC236}">
                <a16:creationId xmlns:a16="http://schemas.microsoft.com/office/drawing/2014/main" id="{ADE72180-4939-4AAA-B758-C7DEFF00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1818"/>
                </a:solidFill>
              </a:defRPr>
            </a:pPr>
            <a:r>
              <a:rPr sz="1725" b="1">
                <a:solidFill>
                  <a:srgbClr val="181818"/>
                </a:solidFill>
              </a:rPr>
              <a:t>作品集 = 最终画面 + Breakdown + 对上下游约束的理解</a:t>
            </a:r>
          </a:p>
        </p:txBody>
      </p:sp>
      <p:sp>
        <p:nvSpPr>
          <p:cNvPr id="30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BA4FAA5A-957F-4B5E-ADDA-1BBEA98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C49E3465-15DD-42F9-B9BD-99D8B3D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5E5E"/>
                </a:solidFill>
              </a:defRPr>
            </a:pPr>
            <a:r>
              <a:rPr sz="1125" b="0">
                <a:solidFill>
                  <a:srgbClr val="5E5E5E"/>
                </a:solidFill>
              </a:rPr>
              <a:t>CG 动画工业化制作流程</a:t>
            </a:r>
          </a:p>
        </p:txBody>
      </p:sp>
      <p:sp>
        <p:nvSpPr>
          <p:cNvPr id="32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D7C78805-D103-425D-AA12-FA31058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5E5E"/>
                </a:solidFill>
              </a:defRPr>
            </a:pPr>
            <a:r>
              <a:rPr sz="1200" b="1">
                <a:solidFill>
                  <a:srgbClr val="5E5E5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8302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0">
            <a:extLst xmlns:a="http://schemas.openxmlformats.org/drawingml/2006/main">
              <a:ext uri="{FF2B5EF4-FFF2-40B4-BE49-F238E27FC236}">
                <a16:creationId xmlns:a16="http://schemas.microsoft.com/office/drawing/2014/main" id="{72E782B7-BE86-429B-AE3B-E66AF9B4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BDBD"/>
                </a:solidFill>
              </a:defRPr>
            </a:pPr>
            <a:r>
              <a:rPr sz="1200" b="1">
                <a:solidFill>
                  <a:srgbClr val="BDBDBD"/>
                </a:solidFill>
              </a:rPr>
              <a:t>课堂实践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4CB2412-C150-4B62-AC70-8DCB6588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毕业前，完成一次真正的团队交接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A127CC8E-0675-4FFD-A337-F21156B3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intro">
            <a:extLst xmlns:a="http://schemas.openxmlformats.org/drawingml/2006/main">
              <a:ext uri="{FF2B5EF4-FFF2-40B4-BE49-F238E27FC236}">
                <a16:creationId xmlns:a16="http://schemas.microsoft.com/office/drawing/2014/main" id="{9E9C07BF-EFF2-4945-9353-AD660EAE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以小组完成一个 5—10 秒镜头</a:t>
            </a:r>
          </a:p>
        </p:txBody>
      </p:sp>
      <p:sp>
        <p:nvSpPr>
          <p:cNvPr id="5" name="closing-num-0">
            <a:extLst xmlns:a="http://schemas.openxmlformats.org/drawingml/2006/main">
              <a:ext uri="{FF2B5EF4-FFF2-40B4-BE49-F238E27FC236}">
                <a16:creationId xmlns:a16="http://schemas.microsoft.com/office/drawing/2014/main" id="{39F719D2-AAF4-4D1A-B4B3-E26DC0EB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89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55555"/>
                </a:solidFill>
              </a:defRPr>
            </a:pPr>
            <a:r>
              <a:rPr sz="39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6" name="closing-line-0">
            <a:extLst xmlns:a="http://schemas.openxmlformats.org/drawingml/2006/main">
              <a:ext uri="{FF2B5EF4-FFF2-40B4-BE49-F238E27FC236}">
                <a16:creationId xmlns:a16="http://schemas.microsoft.com/office/drawing/2014/main" id="{41DCA5B7-9100-4823-A242-834B765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324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ing-step-0">
            <a:extLst xmlns:a="http://schemas.openxmlformats.org/drawingml/2006/main">
              <a:ext uri="{FF2B5EF4-FFF2-40B4-BE49-F238E27FC236}">
                <a16:creationId xmlns:a16="http://schemas.microsoft.com/office/drawing/2014/main" id="{978F34F7-CE68-445B-8693-8589CBB4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故事板 + Color Key</a:t>
            </a:r>
          </a:p>
        </p:txBody>
      </p:sp>
      <p:sp>
        <p:nvSpPr>
          <p:cNvPr id="8" name="closing-num-1">
            <a:extLst xmlns:a="http://schemas.openxmlformats.org/drawingml/2006/main">
              <a:ext uri="{FF2B5EF4-FFF2-40B4-BE49-F238E27FC236}">
                <a16:creationId xmlns:a16="http://schemas.microsoft.com/office/drawing/2014/main" id="{105DA44E-E808-445D-A020-CAFCC41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89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55555"/>
                </a:solidFill>
              </a:defRPr>
            </a:pPr>
            <a:r>
              <a:rPr sz="39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9" name="closing-line-1">
            <a:extLst xmlns:a="http://schemas.openxmlformats.org/drawingml/2006/main">
              <a:ext uri="{FF2B5EF4-FFF2-40B4-BE49-F238E27FC236}">
                <a16:creationId xmlns:a16="http://schemas.microsoft.com/office/drawing/2014/main" id="{E0FB91AE-73BB-4485-8BCE-A9012AB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2324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ing-step-1">
            <a:extLst xmlns:a="http://schemas.openxmlformats.org/drawingml/2006/main">
              <a:ext uri="{FF2B5EF4-FFF2-40B4-BE49-F238E27FC236}">
                <a16:creationId xmlns:a16="http://schemas.microsoft.com/office/drawing/2014/main" id="{54108768-8FFC-480A-8E05-6720BD7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Layout + 资产制作</a:t>
            </a:r>
          </a:p>
        </p:txBody>
      </p:sp>
      <p:sp>
        <p:nvSpPr>
          <p:cNvPr id="11" name="closing-num-2">
            <a:extLst xmlns:a="http://schemas.openxmlformats.org/drawingml/2006/main">
              <a:ext uri="{FF2B5EF4-FFF2-40B4-BE49-F238E27FC236}">
                <a16:creationId xmlns:a16="http://schemas.microsoft.com/office/drawing/2014/main" id="{6223E8B1-25BC-4E95-BFD3-8F18F89B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89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55555"/>
                </a:solidFill>
              </a:defRPr>
            </a:pPr>
            <a:r>
              <a:rPr sz="39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2" name="closing-line-2">
            <a:extLst xmlns:a="http://schemas.openxmlformats.org/drawingml/2006/main">
              <a:ext uri="{FF2B5EF4-FFF2-40B4-BE49-F238E27FC236}">
                <a16:creationId xmlns:a16="http://schemas.microsoft.com/office/drawing/2014/main" id="{7747417E-73F3-4FC4-8BCB-A77C641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2324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step-2">
            <a:extLst xmlns:a="http://schemas.openxmlformats.org/drawingml/2006/main">
              <a:ext uri="{FF2B5EF4-FFF2-40B4-BE49-F238E27FC236}">
                <a16:creationId xmlns:a16="http://schemas.microsoft.com/office/drawing/2014/main" id="{E3F3E1A2-827C-4BAB-A49A-56A77EE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Animation + FX / CFX</a:t>
            </a:r>
          </a:p>
        </p:txBody>
      </p:sp>
      <p:sp>
        <p:nvSpPr>
          <p:cNvPr id="14" name="closing-num-3">
            <a:extLst xmlns:a="http://schemas.openxmlformats.org/drawingml/2006/main">
              <a:ext uri="{FF2B5EF4-FFF2-40B4-BE49-F238E27FC236}">
                <a16:creationId xmlns:a16="http://schemas.microsoft.com/office/drawing/2014/main" id="{26259783-EAE5-4B6A-9245-E727C953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895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55555"/>
                </a:solidFill>
              </a:defRPr>
            </a:pPr>
            <a:r>
              <a:rPr sz="39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15" name="closing-line-3">
            <a:extLst xmlns:a="http://schemas.openxmlformats.org/drawingml/2006/main">
              <a:ext uri="{FF2B5EF4-FFF2-40B4-BE49-F238E27FC236}">
                <a16:creationId xmlns:a16="http://schemas.microsoft.com/office/drawing/2014/main" id="{59333D19-139F-4108-A62D-93D7101B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62350"/>
            <a:ext cx="2324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ing-step-3">
            <a:extLst xmlns:a="http://schemas.openxmlformats.org/drawingml/2006/main">
              <a:ext uri="{FF2B5EF4-FFF2-40B4-BE49-F238E27FC236}">
                <a16:creationId xmlns:a16="http://schemas.microsoft.com/office/drawing/2014/main" id="{4F7EB9C2-6E42-4649-8BC2-1F0ED98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Lighting + Final</a:t>
            </a:r>
          </a:p>
        </p:txBody>
      </p:sp>
      <p:sp>
        <p:nvSpPr>
          <p:cNvPr id="17" name="closing-quote-bg">
            <a:extLst xmlns:a="http://schemas.openxmlformats.org/drawingml/2006/main">
              <a:ext uri="{FF2B5EF4-FFF2-40B4-BE49-F238E27FC236}">
                <a16:creationId xmlns:a16="http://schemas.microsoft.com/office/drawing/2014/main" id="{F70CF139-E7B1-45E6-86F0-63D89842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CD33F986-8EBF-4630-A6C8-B8BE02AA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不要只证明“我会做”，还要证明“我能在流程中可靠地交付”。</a:t>
            </a:r>
          </a:p>
        </p:txBody>
      </p:sp>
      <p:sp>
        <p:nvSpPr>
          <p:cNvPr id="19" name="closing-source">
            <a:extLst xmlns:a="http://schemas.openxmlformats.org/drawingml/2006/main">
              <a:ext uri="{FF2B5EF4-FFF2-40B4-BE49-F238E27FC236}">
                <a16:creationId xmlns:a16="http://schemas.microsoft.com/office/drawing/2014/main" id="{543ABC6D-CB96-477F-875C-B7EE205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FAFAF"/>
                </a:solidFill>
              </a:defRPr>
            </a:pPr>
            <a:r>
              <a:rPr sz="1200" b="0">
                <a:solidFill>
                  <a:srgbClr val="AFAFAF"/>
                </a:solidFill>
              </a:rPr>
              <a:t>资料来源：bilibili.com/video/BV1kZZ7YgEf7/ ｜ 部门名称与边界会因公司而异</a:t>
            </a:r>
          </a:p>
        </p:txBody>
      </p:sp>
      <p:sp>
        <p:nvSpPr>
          <p:cNvPr id="20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33C43A42-8766-4912-8327-C7C63CB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EF67EEBC-68E0-48D2-BE4B-F3F63539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CG 动画工业化制作流程</a:t>
            </a:r>
          </a:p>
        </p:txBody>
      </p:sp>
      <p:sp>
        <p:nvSpPr>
          <p:cNvPr id="22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A08CC8C7-05D1-4561-A4BD-A446234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FCFCF"/>
                </a:solidFill>
              </a:defRPr>
            </a:pPr>
            <a:r>
              <a:rPr sz="1200" b="1">
                <a:solidFill>
                  <a:srgbClr val="CFCFC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1445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2026-07-24T06:48:37.8210000Z</dcterms:created>
  <dcterms:modified xsi:type="dcterms:W3CDTF">2026-07-24T06:48:37.8210000Z</dcterms:modified>
</coreProperties>
</file>